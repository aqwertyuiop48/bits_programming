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C6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C6C"/>
                </a:solidFill>
                <a:latin typeface="Calibri"/>
              </a:rPr>
              <a:t>Size and Latency vs Precision (ResNet-50, batch=1, CPU)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Size (MB)</c:v>
                </c:pt>
              </c:strCache>
            </c:strRef>
          </c:tx>
          <c:spPr>
            <a:solidFill>
              <a:srgbClr val="7651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FP32</c:v>
                  </c:pt>
                  <c:pt idx="1">
                    <c:v>FP16</c:v>
                  </c:pt>
                  <c:pt idx="2">
                    <c:v>INT8</c:v>
                  </c:pt>
                  <c:pt idx="3">
                    <c:v>INT4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440</c:v>
                </c:pt>
                <c:pt idx="1">
                  <c:v>220</c:v>
                </c:pt>
                <c:pt idx="2">
                  <c:v>110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73C2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FP32</c:v>
                  </c:pt>
                  <c:pt idx="1">
                    <c:v>FP16</c:v>
                  </c:pt>
                  <c:pt idx="2">
                    <c:v>INT8</c:v>
                  </c:pt>
                  <c:pt idx="3">
                    <c:v>INT4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52</c:v>
                </c:pt>
                <c:pt idx="2">
                  <c:v>31</c:v>
                </c:pt>
                <c:pt idx="3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TS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7651A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|  AI Platform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 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&amp; Acceleration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9C72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Module 05 with real AWS implementation via SageMaker Neo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you will be able to: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749040" cy="4023360"/>
          </a:xfrm>
          <a:prstGeom prst="roundRect">
            <a:avLst>
              <a:gd name="adj" fmla="val 3659"/>
            </a:avLst>
          </a:prstGeom>
          <a:solidFill>
            <a:srgbClr val="F5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Quantization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INT8, FP16, mixed precision, and Quantization-Aware Training (QAT) to compress models with controlled accuracy loss.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749040" cy="4023360"/>
          </a:xfrm>
          <a:prstGeom prst="roundRect">
            <a:avLst>
              <a:gd name="adj" fmla="val 3659"/>
            </a:avLst>
          </a:prstGeom>
          <a:solidFill>
            <a:srgbClr val="F5F3F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6344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Model Graphs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7033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pruning (structured vs unstructured) and graph optimizations (operator fusion, constant folding) that reduce compute without changing weights.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3749040" cy="4023360"/>
          </a:xfrm>
          <a:prstGeom prst="roundRect">
            <a:avLst>
              <a:gd name="adj" fmla="val 3659"/>
            </a:avLst>
          </a:prstGeom>
          <a:solidFill>
            <a:srgbClr val="F5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59536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Hardware-Accelerated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95360" y="37033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ONNX Runtime, NVIDIA TensorRT, Intel OpenVINO, and AWS SageMaker Neo for hardware-specific inference acceleration.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|  THE CASE FOR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Optimize? Four Business Drivers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100ms of extra latency costs conversion, cost, or reach — pick your metric.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788920" cy="310896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25400">
            <a:solidFill>
              <a:srgbClr val="7651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2788920" cy="457200"/>
          </a:xfrm>
          <a:prstGeom prst="roundRect">
            <a:avLst>
              <a:gd name="adj" fmla="val 30000"/>
            </a:avLst>
          </a:prstGeom>
          <a:solidFill>
            <a:srgbClr val="7651A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50ms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UX, voice, autonomous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788920" cy="310896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25400">
            <a:solidFill>
              <a:srgbClr val="2B2C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103120"/>
            <a:ext cx="2788920" cy="457200"/>
          </a:xfrm>
          <a:prstGeom prst="roundRect">
            <a:avLst>
              <a:gd name="adj" fmla="val 30000"/>
            </a:avLst>
          </a:prstGeom>
          <a:solidFill>
            <a:srgbClr val="2B2C6C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566160" y="40233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hours, inference bill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788920" cy="310896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25400">
            <a:solidFill>
              <a:srgbClr val="73C2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03120"/>
            <a:ext cx="2788920" cy="457200"/>
          </a:xfrm>
          <a:prstGeom prst="roundRect">
            <a:avLst>
              <a:gd name="adj" fmla="val 30000"/>
            </a:avLst>
          </a:prstGeom>
          <a:solidFill>
            <a:srgbClr val="73C2E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less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92240" y="40233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larger models same VRAM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35440" y="2103120"/>
            <a:ext cx="2788920" cy="310896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25400">
            <a:solidFill>
              <a:srgbClr val="F9C7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2103120"/>
            <a:ext cx="2788920" cy="457200"/>
          </a:xfrm>
          <a:prstGeom prst="roundRect">
            <a:avLst>
              <a:gd name="adj" fmla="val 30000"/>
            </a:avLst>
          </a:prstGeom>
          <a:solidFill>
            <a:srgbClr val="F9C72C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2103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28346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100MB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418320" y="40233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IoT, browsers, cars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2B2C6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the price of admission for production ML — training is where accuracy is born, optimization is where it lives.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|  THE TRADEOFF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Accuracy–Performance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optimization step trades some accuracy for speed, size, or cost. Measure it.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Loss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246888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5F3F8"/>
          </a:solidFill>
          <a:ln/>
        </p:spPr>
      </p:sp>
      <p:sp>
        <p:nvSpPr>
          <p:cNvPr id="8" name="Shape 5"/>
          <p:cNvSpPr/>
          <p:nvPr/>
        </p:nvSpPr>
        <p:spPr>
          <a:xfrm>
            <a:off x="7589520" y="2468880"/>
            <a:ext cx="137160" cy="457200"/>
          </a:xfrm>
          <a:prstGeom prst="rect">
            <a:avLst/>
          </a:prstGeom>
          <a:solidFill>
            <a:srgbClr val="2B2C6C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(baseline)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0" y="301752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5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7589520" y="3017520"/>
            <a:ext cx="137160" cy="457200"/>
          </a:xfrm>
          <a:prstGeom prst="rect">
            <a:avLst/>
          </a:prstGeom>
          <a:solidFill>
            <a:srgbClr val="73C2E5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89520" y="35661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5F3F8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9520" y="3566160"/>
            <a:ext cx="137160" cy="457200"/>
          </a:xfrm>
          <a:prstGeom prst="rect">
            <a:avLst/>
          </a:prstGeom>
          <a:solidFill>
            <a:srgbClr val="7651A2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(PTQ)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589520" y="411480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5F3F8"/>
          </a:solidFill>
          <a:ln/>
        </p:spPr>
      </p:sp>
      <p:sp>
        <p:nvSpPr>
          <p:cNvPr id="20" name="Shape 17"/>
          <p:cNvSpPr/>
          <p:nvPr/>
        </p:nvSpPr>
        <p:spPr>
          <a:xfrm>
            <a:off x="7589520" y="4114800"/>
            <a:ext cx="137160" cy="457200"/>
          </a:xfrm>
          <a:prstGeom prst="rect">
            <a:avLst/>
          </a:prstGeom>
          <a:solidFill>
            <a:srgbClr val="7651A2"/>
          </a:solidFill>
          <a:ln/>
        </p:spPr>
      </p:sp>
      <p:sp>
        <p:nvSpPr>
          <p:cNvPr id="21" name="Text 18"/>
          <p:cNvSpPr/>
          <p:nvPr/>
        </p:nvSpPr>
        <p:spPr>
          <a:xfrm>
            <a:off x="78181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(QAT)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589520" y="466344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5F3F8"/>
          </a:solidFill>
          <a:ln/>
        </p:spPr>
      </p:sp>
      <p:sp>
        <p:nvSpPr>
          <p:cNvPr id="24" name="Shape 21"/>
          <p:cNvSpPr/>
          <p:nvPr/>
        </p:nvSpPr>
        <p:spPr>
          <a:xfrm>
            <a:off x="7589520" y="4663440"/>
            <a:ext cx="137160" cy="457200"/>
          </a:xfrm>
          <a:prstGeom prst="rect">
            <a:avLst/>
          </a:prstGeom>
          <a:solidFill>
            <a:srgbClr val="F9C72C"/>
          </a:solidFill>
          <a:ln/>
        </p:spPr>
      </p:sp>
      <p:sp>
        <p:nvSpPr>
          <p:cNvPr id="25" name="Text 22"/>
          <p:cNvSpPr/>
          <p:nvPr/>
        </p:nvSpPr>
        <p:spPr>
          <a:xfrm>
            <a:off x="781812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 (GPTQ)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-1.2%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589520" y="5349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recovers most of PTQ's accuracy loss at the cost of retraining time.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|  QUANTIZATION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Quantization: From FP32 to INT4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weights and activations with fewer bits → less memory, faster arithmetic.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463040" cy="1463040"/>
          </a:xfrm>
          <a:prstGeom prst="rect">
            <a:avLst/>
          </a:prstGeom>
          <a:solidFill>
            <a:srgbClr val="2B2C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3474720"/>
            <a:ext cx="1463040" cy="731520"/>
          </a:xfrm>
          <a:prstGeom prst="rect">
            <a:avLst/>
          </a:prstGeom>
          <a:solidFill>
            <a:srgbClr val="73C2E5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474720"/>
            <a:ext cx="1463040" cy="731520"/>
          </a:xfrm>
          <a:prstGeom prst="rect">
            <a:avLst/>
          </a:prstGeom>
          <a:solidFill>
            <a:srgbClr val="73C2E5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TPU/GPU friendly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3840480"/>
            <a:ext cx="1463040" cy="365760"/>
          </a:xfrm>
          <a:prstGeom prst="rect">
            <a:avLst/>
          </a:prstGeom>
          <a:solidFill>
            <a:srgbClr val="7651A2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3524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49840" y="4023360"/>
            <a:ext cx="1463040" cy="182880"/>
          </a:xfrm>
          <a:prstGeom prst="rect">
            <a:avLst/>
          </a:prstGeom>
          <a:solidFill>
            <a:srgbClr val="F9C72C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6696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806440"/>
            <a:ext cx="5532120" cy="502920"/>
          </a:xfrm>
          <a:prstGeom prst="roundRect">
            <a:avLst>
              <a:gd name="adj" fmla="val 18182"/>
            </a:avLst>
          </a:prstGeom>
          <a:solidFill>
            <a:srgbClr val="F5F3F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806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· Post-Training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5806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No retraining · Some accuracy loss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5806440"/>
            <a:ext cx="5532120" cy="502920"/>
          </a:xfrm>
          <a:prstGeom prst="roundRect">
            <a:avLst>
              <a:gd name="adj" fmla="val 18182"/>
            </a:avLst>
          </a:prstGeom>
          <a:solidFill>
            <a:srgbClr val="F5F3F8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5806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· Quant-Aware Training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5806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· Retrain with sim quant · Recovers accuracy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|  DECISION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vs QAT: When to Use Which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quantized weights — the tradeoff is time vs accuracy.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7651A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 (PTQ)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532120" cy="548640"/>
          </a:xfrm>
          <a:prstGeom prst="rect">
            <a:avLst/>
          </a:prstGeom>
          <a:solidFill>
            <a:srgbClr val="F5F3F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needed?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2743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quantize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3291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532120" cy="548640"/>
          </a:xfrm>
          <a:prstGeom prst="rect">
            <a:avLst/>
          </a:prstGeom>
          <a:solidFill>
            <a:srgbClr val="F5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calibration 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389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accuracy drop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4389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– 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5532120" cy="548640"/>
          </a:xfrm>
          <a:prstGeom prst="rect">
            <a:avLst/>
          </a:prstGeom>
          <a:solidFill>
            <a:srgbClr val="F5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4937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Well-understood CNNs, tabular models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5486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onnxruntime, TensorRT, OpenVINO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2011680"/>
            <a:ext cx="5532120" cy="548640"/>
          </a:xfrm>
          <a:prstGeom prst="roundRect">
            <a:avLst>
              <a:gd name="adj" fmla="val 16667"/>
            </a:avLst>
          </a:prstGeom>
          <a:solidFill>
            <a:srgbClr val="2B2C6C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 (QAT)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2743200"/>
            <a:ext cx="5532120" cy="548640"/>
          </a:xfrm>
          <a:prstGeom prst="rect">
            <a:avLst/>
          </a:prstGeom>
          <a:solidFill>
            <a:srgbClr val="F5F3F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needed?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2743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full fine-tune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quantize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3291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days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840480"/>
            <a:ext cx="5532120" cy="548640"/>
          </a:xfrm>
          <a:prstGeom prst="rect">
            <a:avLst/>
          </a:prstGeom>
          <a:solidFill>
            <a:srgbClr val="F5F3F8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389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accuracy drop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4389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937760"/>
            <a:ext cx="5532120" cy="548640"/>
          </a:xfrm>
          <a:prstGeom prst="rect">
            <a:avLst/>
          </a:prstGeom>
          <a:solidFill>
            <a:srgbClr val="F5F3F8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0" y="4937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Latency-critical, edge, LLMs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0" y="5486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quantization, TF-MOT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|  DYNAMIC vs STATIC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vs Static Quantization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are activation scales computed — at inference time, or ahead of time?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321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7651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→ INT8 (offline)   ·   Activations → INT8 (per-request)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activation min/max at each inference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3520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calibration data required · Trivial to enable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4023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speedup — scale calc runs every request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4526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RNNs, dynamic-shape workloads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(CPU)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5029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– 2× vs FP32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011680"/>
            <a:ext cx="55321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2B2C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Quantization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2560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Activations → INT8 (both offline)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01000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Calibrate: run sample data, record activation ranges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01000" y="3520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speedup — everything fused ahead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01000" y="4023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representative calibration set (100–1000 samples)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526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01000" y="4526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CNNs, fixed-shape production inference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(CPU)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01000" y="5029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– 4× vs FP32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|  MODERN LLM QUANTIZATION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GPTQ · AWQ · GGUF: The LLM Trio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Four-bit quantization formats built specifically for large language models.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25400">
            <a:solidFill>
              <a:srgbClr val="7651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7651A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GPTQ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One-shot, layer-by-layer quantization using approximate second-order info from a small calibration set.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GPU inference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/ 3-bit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6235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AutoGPTQ · vLLM · Transformers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01168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25400">
            <a:solidFill>
              <a:srgbClr val="2B2C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01168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2B2C6C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38912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Activation-Aware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small % of 'salient' weights that carry most model quality; quantizes the rest aggressively.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617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GPU, edge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5120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56235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autoawq · vLLM · llama.cpp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21040" y="2011680"/>
            <a:ext cx="3749040" cy="41148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25400">
            <a:solidFill>
              <a:srgbClr val="73C2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201168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73C2E5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2104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algorithm — a container format (successor to GGML) storing quantized weights + metadata for CPU/GPU llama.cpp.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617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800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CPU / edge / Mac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5120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8-bit variants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56235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· Ollama · LM Studio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 |  PRUNING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Pruning: Structured vs Unstructured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weights (or entire neurons/channels) that contribute least to output.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25400">
            <a:solidFill>
              <a:srgbClr val="7651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Pruning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individual weights below a magnitude threshold.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5F3F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compression ratio · Preserves accuracy well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5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26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8006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sparse-aware runtime (CUDA sparse kernels, oneDNN)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Set 60% of weights to 0 → 40% dense matrix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01168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25400">
            <a:solidFill>
              <a:srgbClr val="2B2C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entire channels, filters, attention heads, or transformer layers.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356616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5F3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886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hardware · Real end-to-end speedup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F5F3F8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526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8006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compression · More accuracy loss per parameter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Delete 30% of channels in each conv layer → smaller model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 |  GRAPH OPTIMIZATIONS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Optimizations: Same Math, Less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computation graph to eliminate redundant ops — before quantization even runs.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321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Fusion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Conv+BN+ReLU into one fused kernel — cuts kernel launches, memory reads.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Conv → BatchNorm → ReLU  (3 ops, 3 memory writes)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51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 FusedConvBnReLU        (1 op, 1 memory write)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5321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03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anything whose inputs are all constants at load time.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Multiply weights by frozen batch-norm scale at every inference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3337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51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 Multiply once at load time · bake result into weights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5321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519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Elimination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ops whose outputs don't reach the model's declared outputs.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Model has an unused auxiliary head from training 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51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 Aux head + all upstream ops removed from inference graph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4160520"/>
            <a:ext cx="55321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519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Optimization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46177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tensor memory layouts (NCHW ↔ NHWC) to match target hardware.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5120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Model in NCHW · runs on Intel CPU that prefers NHWC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54864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51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 Insert transposes at edges · use NHWC internally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 |  ACCELERATION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Hardware-Specific Optimization Frameworks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runtime that owns your target hardware — the compiler knows tricks the model didn't.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7651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377440" cy="1325880"/>
          </a:xfrm>
          <a:prstGeom prst="rect">
            <a:avLst/>
          </a:prstGeom>
          <a:solidFill>
            <a:srgbClr val="7651A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(open)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GPU · NPU · Mobile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2377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· Cross-platform · Easy INT8 dynamic/static quantization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69680" y="2377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vendor-specific TensorRT on NVIDIA GPUs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2B2C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2377440" cy="1325880"/>
          </a:xfrm>
          <a:prstGeom prst="rect">
            <a:avLst/>
          </a:prstGeom>
          <a:solidFill>
            <a:srgbClr val="2B2C6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TensorRT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GPUs only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GPU perf · Kernel autotuning · INT8/FP8/FP16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6968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· Steeper learning curve · Version-sensitive builds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73C2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937760"/>
            <a:ext cx="2377440" cy="1325880"/>
          </a:xfrm>
          <a:prstGeom prst="rect">
            <a:avLst/>
          </a:prstGeom>
          <a:solidFill>
            <a:srgbClr val="73C2E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166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OpenVINO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5623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5074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5303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CPU · iGPU · VPU · Edge (Movidius, Arc)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074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5303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on Intel CPUs · Strong INT8 on Xeon · Model Zoo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0" y="5074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69680" y="5303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Intel silicon; NVIDIA/AMD support limited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 |  AWS-NATIVE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 Neo: Optimize Once, Deploy Anywhere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compilation service that ties this lesson to real AWS infrastructure.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286000" cy="1371600"/>
          </a:xfrm>
          <a:prstGeom prst="roundRect">
            <a:avLst>
              <a:gd name="adj" fmla="val 10000"/>
            </a:avLst>
          </a:prstGeom>
          <a:solidFill>
            <a:srgbClr val="F5F3F8"/>
          </a:solidFill>
          <a:ln w="25400">
            <a:solidFill>
              <a:srgbClr val="2B2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MXNet / XGBoost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3200400" cy="1737360"/>
          </a:xfrm>
          <a:prstGeom prst="roundRect">
            <a:avLst>
              <a:gd name="adj" fmla="val 7895"/>
            </a:avLst>
          </a:prstGeom>
          <a:solidFill>
            <a:srgbClr val="7651A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004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compilation 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201168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CPU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7804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ml.m5 / ml.c5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288036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804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ml.g4dn / p3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37490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73C2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3C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IoT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· Coral · ARM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88920" y="2880360"/>
            <a:ext cx="365760" cy="0"/>
          </a:xfrm>
          <a:prstGeom prst="line">
            <a:avLst/>
          </a:prstGeom>
          <a:noFill/>
          <a:ln w="25400">
            <a:solidFill>
              <a:srgbClr val="8A8A9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46520" y="2880360"/>
            <a:ext cx="548640" cy="0"/>
          </a:xfrm>
          <a:prstGeom prst="line">
            <a:avLst/>
          </a:prstGeom>
          <a:noFill/>
          <a:ln w="25400">
            <a:solidFill>
              <a:srgbClr val="8A8A9E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Neo actually does under the hood: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75488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Optimization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5303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fusion, constant folding, dead-code removal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4617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0" y="475488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2336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5303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/ FP16 for CPU targets · TF32 / FP16 for NVIDIA GPUs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617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3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475488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Generation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5303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target-specific machine code (LLVM, TVM under the hood)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98280" y="4617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5F3F8"/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475488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41" name="Text 39"/>
          <p:cNvSpPr/>
          <p:nvPr/>
        </p:nvSpPr>
        <p:spPr>
          <a:xfrm>
            <a:off x="92354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784080" y="4800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Runtime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35440" y="5303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self-contained inference container per target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|  REAL AWS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6: Compile + Deploy with SageMaker Neo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 a full quantization → compilation → deployment pipeline on real AWS.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Locally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classifier trained in the notebook kernel — no SageMaker Training Job (works around zero-quota sandbox).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19456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ONNX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PyTorch model to ONNX intermediate representation.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9456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068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(ONNX-INT8)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dynamic + static INT8 quantization with onnxruntime. Measure size + accuracy locally.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4389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Neo Job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FP32 model to S3 · launch Neo compilation targeting ml_m5 · Neo returns hardware-optimized artifact.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434340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12080" y="4389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2 Endpoints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Neo-compiled AND baseline models side by side on ml.m5.large (quota = 4 available).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7651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4343400"/>
            <a:ext cx="640080" cy="64008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06840" y="4389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0684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both endpoints from sagemaker-runtime. Compare p50/p95 latency, throughput, cost per 1k requests.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263640"/>
            <a:ext cx="11247120" cy="320040"/>
          </a:xfrm>
          <a:prstGeom prst="roundRect">
            <a:avLst>
              <a:gd name="adj" fmla="val 17143"/>
            </a:avLst>
          </a:prstGeom>
          <a:solidFill>
            <a:srgbClr val="2B2C6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 time: ~15 minutes  ·  Real AWS spend: &lt; $0.20 if teardown runs promptly  ·  All in eu-north-1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| 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 to carry into Lesson 7 (Memory &amp; Attention) and the rest of Module 05.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5F3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measurement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claim a speedup without a fair baseline. Always report FP32 latency and accuracy alongside your quantized numbers.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5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first, then think about hardware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works everywhere; TensorRT/OpenVINO/Neo add hardware-specific tricks on top. Get INT8 right, then pick a runtime.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5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solves 80% of cases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QAT only when PTQ's accuracy drop violates your SLA. Save the retraining budget for genuine wins.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5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 is real-world pruning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846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pruning looks better on paper. On general-purpose CPUs and GPUs, only structured pruning delivers actual speedup.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0352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5F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7651A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is your AWS optimization primitive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5669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abstracts TVM + LLVM + vendor kernels into one API call. Use it whenever you deploy on a SageMaker endpoint.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217920"/>
            <a:ext cx="11247120" cy="320040"/>
          </a:xfrm>
          <a:prstGeom prst="roundRect">
            <a:avLst>
              <a:gd name="adj" fmla="val 17143"/>
            </a:avLst>
          </a:prstGeom>
          <a:solidFill>
            <a:srgbClr val="2B2C6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 ·  Lesson 7: Model Optimization II — Memory &amp; Attention (Flash Attention · KV Cache · PagedAttention · vLLM)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AI Platform Engineering  |  Module 05  |  Lesson 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651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2026-07-24T05:00:15Z</dcterms:created>
  <dcterms:modified xsi:type="dcterms:W3CDTF">2026-07-24T05:00:15Z</dcterms:modified>
</cp:coreProperties>
</file>