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2C6C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2B2C6C"/>
                </a:solidFill>
                <a:latin typeface="Calibri"/>
              </a:rPr>
              <a:t>Illustrative throughput across serving setups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throughput (tokens/sec, log-ish illustrative)</c:v>
                </c:pt>
              </c:strCache>
            </c:strRef>
          </c:tx>
          <c:spPr>
            <a:solidFill>
              <a:srgbClr val="7651A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3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CPU
(naive)</c:v>
                </c:pt>
                <c:pt idx="1">
                  <c:v>CPU
(optimized)</c:v>
                </c:pt>
                <c:pt idx="2">
                  <c:v>GPU
(HF naive)</c:v>
                </c:pt>
                <c:pt idx="3">
                  <c:v>GPU
(vLLM)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20</c:v>
                </c:pt>
                <c:pt idx="3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78-4892-8664-08C03F9DE1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545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TS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7651A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|  AI Platform Engineering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Optimization II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Attention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50292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5737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029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Attention · KV Cache · PagedAttention · vLLM · Speculative Decoding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lesson, you will be able to: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749040" cy="4023360"/>
          </a:xfrm>
          <a:prstGeom prst="roundRect">
            <a:avLst>
              <a:gd name="adj" fmla="val 3659"/>
            </a:avLst>
          </a:prstGeom>
          <a:solidFill>
            <a:srgbClr val="F5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Memory Bottlenecks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LLM inference is memory-bound, not compute-bound — and how the KV cache dominates memory as sequences grow.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749040" cy="4023360"/>
          </a:xfrm>
          <a:prstGeom prst="roundRect">
            <a:avLst>
              <a:gd name="adj" fmla="val 3659"/>
            </a:avLst>
          </a:prstGeom>
          <a:solidFill>
            <a:srgbClr val="F5F3F8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66344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Attention Optimizations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3440" y="37033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Flash Attention, KV caching, Multi/Grouped-Query Attention, PagedAttention, and speculative decoding to accelerate generation.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2011680"/>
            <a:ext cx="3749040" cy="4023360"/>
          </a:xfrm>
          <a:prstGeom prst="roundRect">
            <a:avLst>
              <a:gd name="adj" fmla="val 3659"/>
            </a:avLst>
          </a:prstGeom>
          <a:solidFill>
            <a:srgbClr val="F5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59536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&amp; Decide at Scale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595360" y="37033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strategies on CPU vs GPU, apply tensor/pipeline parallelism, and choose the right optimization for a production serving target.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 |  THE CORE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Is Memory-Bound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GPU spends most of its time waiting for data to move — not computing. That's the whole game.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E5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GPUs can do ~1000 TFLOPs of compute but only move ~3 TB/s of memory. For each generated token, the model reads ALL its weights from memory but does relatively little math. The hardware starves waiting for memory reads.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2B2C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5603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optimization in this lesson attacks memory, not compute: shrink what must be stored (KV cache tricks), move it more cleverly (Flash Attention, PagedAttention), or skip work entirely (speculative decoding).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 of LLM inference — memory pressure differs in each: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5F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4572000"/>
            <a:ext cx="137160" cy="1554480"/>
          </a:xfrm>
          <a:prstGeom prst="rect">
            <a:avLst/>
          </a:prstGeom>
          <a:solidFill>
            <a:srgbClr val="73C2E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7091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3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5166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the whole prompt at once. Compute-bound — big parallel matmuls. Fast per token.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4572000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5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4572000"/>
            <a:ext cx="137160" cy="1554480"/>
          </a:xfrm>
          <a:prstGeom prst="rect">
            <a:avLst/>
          </a:prstGeom>
          <a:solidFill>
            <a:srgbClr val="E57373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7091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92240" y="5166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one token at a time. Memory-bound — re-read all weights + growing KV cache each step. This is where the pain lives.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 |  KV CACHING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Caching: Trade Memory for Compute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the Key and Value tensors from past tokens so you never recompute them. The foundation of fast decode.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E5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KV Cache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token N → recompute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over ALL N-1 prior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from scratch.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token grows with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length. O(N²) total.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011680"/>
            <a:ext cx="54864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5FA7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148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FA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KV Cache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260604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K,V for each past token.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token N → compute K,V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NEW token only, reuse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from cache.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token roughly constant.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11247120" cy="1463040"/>
          </a:xfrm>
          <a:prstGeom prst="roundRect">
            <a:avLst>
              <a:gd name="adj" fmla="val 7500"/>
            </a:avLst>
          </a:prstGeom>
          <a:solidFill>
            <a:srgbClr val="F5F3F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51663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KV cache itself becomes the dominant memory consumer. For a 7B model at 2048 context, the KV cache can exceed 1 GB per request — and it grows linearly with batch size and sequence length. Everything that follows in this lesson (Multi/Grouped-Query Attention, PagedAttention) exists to make this cache smaller or more efficiently managed.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 |  FLASH ATTENTION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Attention: Never Materialise the Matrix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math, radically less memory traffic — by fusing the attention computation and tiling it in fast SRAM.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3C2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40280"/>
            <a:ext cx="548640" cy="54864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attention builds the full N×N attention score matrix in slow GPU memory (HBM). For long sequences that matrix is huge and every read/write is slow.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01168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3C2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240280"/>
            <a:ext cx="548640" cy="54864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86600" y="2286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output can be computed in tiles without ever storing the full matrix — using an online softmax that updates running statistics block by block.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3C2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389120"/>
            <a:ext cx="548640" cy="54864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434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small blocks of Q, K, V into fast on-chip SRAM, compute partial attention, accumulate, discard. The N×N matrix never touches slow HBM.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416052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3C2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389120"/>
            <a:ext cx="548640" cy="54864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86600" y="4434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46520" y="5029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2–4× faster attention, memory linear in sequence length instead of quadratic. Exact result — not an approximation. Now standard in PyTorch, vLLM, TensorRT-LLM.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 |  ATTENTION VARIANTS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 → MQA → GQA: Shrinking the KV Cache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Key/Value heads across Query heads to cut KV-cache memory — the trick behind Llama-2 70B and most modern LLMs.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749040" cy="41148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25400">
            <a:solidFill>
              <a:srgbClr val="2B2C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2B2C6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(MHA)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KV heads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footprint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40233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head has its own key and value head. Maximum quality, maximum KV-cache memory.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011680"/>
            <a:ext cx="3749040" cy="41148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25400">
            <a:solidFill>
              <a:srgbClr val="E573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01168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E57373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(MQA)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8912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3017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KV head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footprint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40233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query heads share ONE key/value head. KV cache shrinks ~N×. Small quality drop, big memory win.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2011680"/>
            <a:ext cx="3749040" cy="41148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25400">
            <a:solidFill>
              <a:srgbClr val="5FA7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01168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5FA777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Grouped-Query (GQA)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sweet spot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03920" y="3017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FA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KV heads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50392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footprint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49640" y="40233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heads split into G groups, each sharing one KV head. Tunable balance — used in Llama-2/3, Mistral.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 |  PAGEDATTENTION &amp; vLLM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PagedAttention: Virtual Memory for the KV Cache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that made vLLM the default LLM serving engine — treat KV cache like OS memory pages.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E5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waste it fixes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serving reserves one big contiguous KV-cache block per request, sized for the max possible length. Most requests finish short — so 60–80% of reserved memory sits unused (internal fragmentation). Fewer requests fit; throughput tanks.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5FA7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A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PagedAttention works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5603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KV cache into small fixed-size blocks (pages), like OS virtual memory. Allocate pages on demand as a sequence grows; a lookup table maps logical positions to physical pages. Near-zero waste, and pages can be shared across requests (e.g. common prompt prefixes).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11247120" cy="1828800"/>
          </a:xfrm>
          <a:prstGeom prst="roundRect">
            <a:avLst>
              <a:gd name="adj" fmla="val 6000"/>
            </a:avLst>
          </a:prstGeom>
          <a:solidFill>
            <a:srgbClr val="2B2C6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480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017520" y="44805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inference server built on PagedAttention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17520" y="493776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 · PagedAttention · Flash Attention built in · OpenAI-compatible API · tensor parallelism · the default choice for self-hosted LLM serving. Delivers up to 24× the throughput of naive HuggingFace serving. This is what you deploy in the hands-on lab.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 |  SPECULATIVE DECODING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Decoding: Draft, Then Verify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small fast model to guess several tokens, then let the big model verify them in one pass. Free speedup, identical output.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73C2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594360" cy="594360"/>
          </a:xfrm>
          <a:prstGeom prst="ellipse">
            <a:avLst/>
          </a:prstGeom>
          <a:solidFill>
            <a:srgbClr val="73C2E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cheap 'draft' model generates K candidate tokens quickly (e.g. 4 tokens ahead).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9080" y="28346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7651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2286000"/>
            <a:ext cx="594360" cy="59436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5780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6280" y="30175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target model processes all K drafted tokens in a SINGLE forward pass (parallel, cheap).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28346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8046720" y="210312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5FA7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2286000"/>
            <a:ext cx="594360" cy="594360"/>
          </a:xfrm>
          <a:prstGeom prst="ellipse">
            <a:avLst/>
          </a:prstGeom>
          <a:solidFill>
            <a:srgbClr val="5FA777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5256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1040" y="30175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longest correct prefix the big model agrees with; discard the rest and continue.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11247120" cy="1645920"/>
          </a:xfrm>
          <a:prstGeom prst="roundRect">
            <a:avLst>
              <a:gd name="adj" fmla="val 6667"/>
            </a:avLst>
          </a:prstGeom>
          <a:solidFill>
            <a:srgbClr val="F5F3F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free speedup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498348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model verifies K tokens in the same time it would take to generate ONE — because verification is a single parallel forward pass, and the model is memory-bound anyway (spare compute is free). When the draft is right, you get K tokens for the price of one. Output is provably identical to normal decoding — the draft only proposes, the target always decides. Variants: assisted generation (HuggingFace), Medusa, lookahead decoding, self-speculation.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 |  PARALLELISM STRATEGIES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GPU Isn't Enough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models too big for a single device, split the work across GPUs — two fundamentally different ways.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25400">
            <a:solidFill>
              <a:srgbClr val="7651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Parallelism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each layer's weight matrices ACROSS GPUs. Every GPU holds a slice of every layer and they compute one layer together, exchanging partial results.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F5F3F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49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A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— all GPUs work on the same token simultaneously.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4526280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F5F3F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48006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inter-GPU communication every layer. Needs fast interconnect (NVLink).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5349240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F5F3F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394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562356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large model, latency-critical, GPUs in one node.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20116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25400">
            <a:solidFill>
              <a:srgbClr val="73C2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3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Parallelism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46520" y="2651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model by LAYERS across GPUs. GPU 1 holds layers 1–8, GPU 2 holds 9–16, etc. Tokens flow through the pipeline stage by stage.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3703320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F5F3F8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749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A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397764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communication — only activations pass between stages. Scales across nodes.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46520" y="4526280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F5F3F8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0" y="48006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'bubbles' — GPUs idle waiting for the previous stage unless carefully batched.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46520" y="5349240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F5F3F8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5394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0" y="562356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models spanning multiple nodes, throughput-oriented.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 |  DECISION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Optimizations at Scale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order of operations — apply these in sequence, measuring at each step.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5F3F8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130552"/>
            <a:ext cx="420624" cy="420624"/>
          </a:xfrm>
          <a:prstGeom prst="ellipse">
            <a:avLst/>
          </a:prstGeom>
          <a:solidFill>
            <a:srgbClr val="5FA77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0574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20574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Always. It's on by default in every serving framework.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326880" y="20574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FA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 fast decode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761488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5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880360"/>
            <a:ext cx="420624" cy="420624"/>
          </a:xfrm>
          <a:prstGeom prst="ellipse">
            <a:avLst/>
          </a:prstGeom>
          <a:solidFill>
            <a:srgbClr val="5FA77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28072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Attention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28072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Always, if your hardware + framework support it (they do).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0" y="28072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FA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2–4× attention, longer context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5F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630168"/>
            <a:ext cx="420624" cy="420624"/>
          </a:xfrm>
          <a:prstGeom prst="ellipse">
            <a:avLst/>
          </a:prstGeom>
          <a:solidFill>
            <a:srgbClr val="73C2E5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35570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 / MQA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35570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at model-architecture time — prefer models that already use it.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26880" y="35570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3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KV cache, bigger batches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261104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5F3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379976"/>
            <a:ext cx="420624" cy="420624"/>
          </a:xfrm>
          <a:prstGeom prst="ellipse">
            <a:avLst/>
          </a:prstGeom>
          <a:solidFill>
            <a:srgbClr val="73C2E5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430682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 (vLLM)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7680" y="430682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serving many concurrent requests. Use vLLM as your server.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26880" y="43068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3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24× throughput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5F3F8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5129784"/>
            <a:ext cx="420624" cy="420624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5129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88720" y="50566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297680" y="505663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Latency-critical single-stream generation with a good draft model.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326880" y="50566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2–3× lower latency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576072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5F3F8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5879592"/>
            <a:ext cx="420624" cy="420624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5879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88720" y="58064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/ Pipeline Parallelism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297680" y="58064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model doesn't fit on one GPU.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326880" y="5806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otherwise-impossible models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 |  BENCHMARKING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vs GPU: Measuring What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metrics that define production LLM serving — and how to measure them honestly.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011680"/>
          <a:ext cx="62179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94944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metrics to report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949440" y="25146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5F3F8"/>
          </a:solidFill>
          <a:ln/>
        </p:spPr>
      </p:sp>
      <p:sp>
        <p:nvSpPr>
          <p:cNvPr id="8" name="Text 5"/>
          <p:cNvSpPr/>
          <p:nvPr/>
        </p:nvSpPr>
        <p:spPr>
          <a:xfrm>
            <a:off x="7086600" y="25877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86600" y="286207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Token — prefill latency. Matters for perceived responsiveness.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49440" y="3410712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5F3F8"/>
          </a:solidFill>
          <a:ln/>
        </p:spPr>
      </p:sp>
      <p:sp>
        <p:nvSpPr>
          <p:cNvPr id="11" name="Text 8"/>
          <p:cNvSpPr/>
          <p:nvPr/>
        </p:nvSpPr>
        <p:spPr>
          <a:xfrm>
            <a:off x="7086600" y="34838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86600" y="375818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Output Token — decode speed. Drives total generation time.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49440" y="4306824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5F3F8"/>
          </a:solidFill>
          <a:ln/>
        </p:spPr>
      </p:sp>
      <p:sp>
        <p:nvSpPr>
          <p:cNvPr id="14" name="Text 11"/>
          <p:cNvSpPr/>
          <p:nvPr/>
        </p:nvSpPr>
        <p:spPr>
          <a:xfrm>
            <a:off x="7086600" y="43799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086600" y="465429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tokens/sec across all concurrent requests. Drives cost per token.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49440" y="5202936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5F3F8"/>
          </a:solidFill>
          <a:ln/>
        </p:spPr>
      </p:sp>
      <p:sp>
        <p:nvSpPr>
          <p:cNvPr id="17" name="Text 14"/>
          <p:cNvSpPr/>
          <p:nvPr/>
        </p:nvSpPr>
        <p:spPr>
          <a:xfrm>
            <a:off x="7086600" y="5276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086600" y="555040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latency under load. What your worst-case user actually feels.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7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 |  FROM OPTIMIZATION TO SERVING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LLM Serving on AWS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these optimizations assemble into a real serving stack — the architecture behind the hands-on lab.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9418320" cy="658368"/>
          </a:xfrm>
          <a:prstGeom prst="roundRect">
            <a:avLst>
              <a:gd name="adj" fmla="val 13889"/>
            </a:avLst>
          </a:prstGeom>
          <a:solidFill>
            <a:srgbClr val="73C2E5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08483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208483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API requests (chat, completions)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9418320" cy="658368"/>
          </a:xfrm>
          <a:prstGeom prst="roundRect">
            <a:avLst>
              <a:gd name="adj" fmla="val 13889"/>
            </a:avLst>
          </a:prstGeom>
          <a:solidFill>
            <a:srgbClr val="2B2C6C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81635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/ ROUTER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281635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requests, handles concurrency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71600" y="3474720"/>
            <a:ext cx="9418320" cy="658368"/>
          </a:xfrm>
          <a:prstGeom prst="roundRect">
            <a:avLst>
              <a:gd name="adj" fmla="val 13889"/>
            </a:avLst>
          </a:prstGeom>
          <a:solidFill>
            <a:srgbClr val="7651A2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354787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SERVING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354787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 · PagedAttention · Flash Attention · KV cache · (speculative decoding)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371600" y="4206240"/>
            <a:ext cx="9418320" cy="658368"/>
          </a:xfrm>
          <a:prstGeom prst="roundRect">
            <a:avLst>
              <a:gd name="adj" fmla="val 13889"/>
            </a:avLst>
          </a:prstGeom>
          <a:solidFill>
            <a:srgbClr val="5FA777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427939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KV CACHE (GPU / CPU memory)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427939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 weights · paged KV blocks · optional tensor parallelism across devices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371600" y="4937760"/>
            <a:ext cx="9418320" cy="658368"/>
          </a:xfrm>
          <a:prstGeom prst="roundRect">
            <a:avLst>
              <a:gd name="adj" fmla="val 13889"/>
            </a:avLst>
          </a:prstGeom>
          <a:solidFill>
            <a:srgbClr val="8A8A9E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501091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501091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endpoint / EKS pod / EC2 — container hosting the vLLM server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0" y="2578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8A9E"/>
                </a:solidFill>
              </a:rPr>
              <a:t>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33101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8A9E"/>
                </a:solidFill>
              </a:rPr>
              <a:t>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4041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8A9E"/>
                </a:solidFill>
              </a:rPr>
              <a:t>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8A9E"/>
                </a:solidFill>
              </a:rPr>
              <a:t>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8064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above is a lesson concept made concrete. The lab deploys this stack on AWS.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|  REAL AWS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7: Deploy &amp; Benchmark a vLLM Server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real production LLM inference server and measure the optimizations from this lesson.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651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94560"/>
            <a:ext cx="640080" cy="64008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vLLM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real vLLM OpenAI-compatible server in a container on AWS — the industry-standard production inference engine.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201168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651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194560"/>
            <a:ext cx="640080" cy="64008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1208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Optimized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naive HuggingFace generation against vLLM's continuous batching + PagedAttention on the same model.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201168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651A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194560"/>
            <a:ext cx="640080" cy="64008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0684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&amp; Flash Attn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0684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attention backends; measure TTFT, TPOT, and memory with KV caching and Flash Attention on/off.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651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343400"/>
            <a:ext cx="640080" cy="64008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17320" y="4389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Sweep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074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1 → 50 concurrent requests; watch continuous batching hold throughput while naive serving collapses.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416052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651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4343400"/>
            <a:ext cx="640080" cy="64008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212080" y="4389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1208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34840" y="5074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draft-model speculative decoding; measure the single-stream latency reduction.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46720" y="416052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651A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4343400"/>
            <a:ext cx="640080" cy="64008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006840" y="4389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0684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5074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the four-metric comparison table (TTFT, TPOT, throughput, p99) with cost per 1M tokens.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6263640"/>
            <a:ext cx="11247120" cy="320040"/>
          </a:xfrm>
          <a:prstGeom prst="roundRect">
            <a:avLst>
              <a:gd name="adj" fmla="val 17143"/>
            </a:avLst>
          </a:prstGeom>
          <a:solidFill>
            <a:srgbClr val="2B2C6C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vLLM server on AWS  ·  four production metrics  ·  CPU-friendly small model so it runs even without GPU quota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  | 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ideas that define fast LLM inference in production today.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5F3F8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2112264"/>
            <a:ext cx="420624" cy="420624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112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0482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is memory-bound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52160" y="204825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optimization attacks memory movement, not compute. Internalise this and the rest follows.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5F3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2825496"/>
            <a:ext cx="420624" cy="420624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825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7614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caching is the foundation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52160" y="276148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decode fast — but the cache itself becomes the memory bottleneck everything else attacks.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438144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5F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" y="3538728"/>
            <a:ext cx="420624" cy="420624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474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Attention is free and always-on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52160" y="34747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same result, 2–4× faster, linear memory. No reason not to use 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151376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5F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" y="4251960"/>
            <a:ext cx="420624" cy="420624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1879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is the production default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52160" y="418795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 + continuous batching give order-of-magnitude throughput. Deploy it, don't rebuild it.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864608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5F3F8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" y="4965192"/>
            <a:ext cx="420624" cy="420624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4965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88720" y="49011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 buys latency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52160" y="490118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draft model gives 2–3× lower latency with provably identical output. Free speedup.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5577840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5F3F8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" y="5678424"/>
            <a:ext cx="420624" cy="420624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" y="5678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88720" y="56144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in order, measure everything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52160" y="561441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→ Flash → GQA → vLLM → speculative → parallelism. Benchmark TTFT, TPOT, throughput, p99 at each step.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6309360"/>
            <a:ext cx="11247120" cy="320040"/>
          </a:xfrm>
          <a:prstGeom prst="roundRect">
            <a:avLst>
              <a:gd name="adj" fmla="val 17143"/>
            </a:avLst>
          </a:prstGeom>
          <a:solidFill>
            <a:srgbClr val="2B2C6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 ·  Lesson 8: Distributed Training &amp; Scaling — data/model parallelism, DeepSpeed, FSDP, multi-node training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4186</TotalTime>
  <Words>2262</Words>
  <Application>Microsoft Office PowerPoint</Application>
  <PresentationFormat>Widescreen</PresentationFormat>
  <Paragraphs>278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Ut Saran</cp:lastModifiedBy>
  <cp:revision>1</cp:revision>
  <dcterms:created xsi:type="dcterms:W3CDTF">2026-07-29T16:16:36Z</dcterms:created>
  <dcterms:modified xsi:type="dcterms:W3CDTF">2026-08-04T03:02:17Z</dcterms:modified>
</cp:coreProperties>
</file>