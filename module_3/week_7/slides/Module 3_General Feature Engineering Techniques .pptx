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92" r:id="rId7"/>
    <p:sldId id="293" r:id="rId8"/>
    <p:sldId id="294" r:id="rId9"/>
    <p:sldId id="26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 id="316" r:id="rId32"/>
    <p:sldId id="317" r:id="rId33"/>
    <p:sldId id="318" r:id="rId34"/>
    <p:sldId id="320" r:id="rId35"/>
    <p:sldId id="321" r:id="rId36"/>
    <p:sldId id="291" r:id="rId37"/>
  </p:sldIdLst>
  <p:sldSz cx="12192000" cy="6858000"/>
  <p:notesSz cx="6858000" cy="9144000"/>
  <p:embeddedFontLst>
    <p:embeddedFont>
      <p:font typeface="Arial Narrow" panose="020B0606020202030204" pitchFamily="34" charset="0"/>
      <p:regular r:id="rId39"/>
      <p:bold r:id="rId40"/>
      <p:italic r:id="rId41"/>
      <p:boldItalic r:id="rId42"/>
    </p:embeddedFont>
    <p:embeddedFont>
      <p:font typeface="Play" panose="020B0604020202020204" charset="0"/>
      <p:regular r:id="rId43"/>
      <p:bold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haCnhdQeqvOZwDOVrtNiAQmEOu/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5" d="100"/>
          <a:sy n="105" d="100"/>
        </p:scale>
        <p:origin x="67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5751952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580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546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707f902fe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Welcome to the third module of our Feature Engineering course, titled "General Feature Engineering Techniques." In this module, we'll cover the foundational concepts and methodologies that are crucial for preparing your data for machine learning models. We will delve into three core areas: Feature Extraction, Feature Construction, and Feature Selection. These techniques are vital for transforming raw data into a format that machine learning algorithms can effectively learn from, ultimately leading to better model performance and interpretability.</a:t>
            </a:r>
            <a:endParaRPr/>
          </a:p>
          <a:p>
            <a:pPr marL="0" lvl="0" indent="0" algn="l" rtl="0">
              <a:lnSpc>
                <a:spcPct val="100000"/>
              </a:lnSpc>
              <a:spcBef>
                <a:spcPts val="120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
        <p:nvSpPr>
          <p:cNvPr id="97" name="Google Shape;97;g3707f902fe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4949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708268c0a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Let's start with Feature Extraction. At its core, feature extraction is the process of converting raw, often complex and unstructured, data into a structured, numerical format that machine learning algorithms can understand and process. Think of it as taking something that isn't directly usable by a machine learning model, like a photograph or a spoken sentence, and breaking it down into quantifiable pieces. This is particularly relevant for data types such as text documents, images, audio files, and intricate time-series data, which aren't inherently numerical.</a:t>
            </a:r>
            <a:endParaRPr>
              <a:solidFill>
                <a:srgbClr val="1B1C1D"/>
              </a:solidFill>
            </a:endParaRPr>
          </a:p>
          <a:p>
            <a:pPr marL="0" lvl="0" indent="0" algn="l" rtl="0">
              <a:lnSpc>
                <a:spcPct val="100000"/>
              </a:lnSpc>
              <a:spcBef>
                <a:spcPts val="1200"/>
              </a:spcBef>
              <a:spcAft>
                <a:spcPts val="0"/>
              </a:spcAft>
              <a:buSzPts val="1100"/>
              <a:buNone/>
            </a:pPr>
            <a:endParaRPr/>
          </a:p>
        </p:txBody>
      </p:sp>
      <p:sp>
        <p:nvSpPr>
          <p:cNvPr id="106" name="Google Shape;106;g3708268c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62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084f751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Technically, feature extraction involves either dimensionality reduction or specialised encoding schemes. The goal here is not just to convert data, but to do so in a way that preserves the most important information or the underlying "signal" within the original data. This means we're trying to retain the predictive power while simplifying the representation. This process is especially useful for data that isn't already in a neat, tabular format, or even for structured data that still needs to be converted into a "feature vector," which is essentially a list of numerical features representing a single data point.</a:t>
            </a:r>
            <a:endParaRPr/>
          </a:p>
          <a:p>
            <a:pPr marL="0" lvl="0" indent="0" algn="l" rtl="0">
              <a:lnSpc>
                <a:spcPct val="100000"/>
              </a:lnSpc>
              <a:spcBef>
                <a:spcPts val="0"/>
              </a:spcBef>
              <a:spcAft>
                <a:spcPts val="0"/>
              </a:spcAft>
              <a:buSzPts val="1100"/>
              <a:buNone/>
            </a:pPr>
            <a:endParaRPr/>
          </a:p>
        </p:txBody>
      </p:sp>
      <p:sp>
        <p:nvSpPr>
          <p:cNvPr id="115" name="Google Shape;115;g37084f751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43193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084f751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Technically, feature extraction involves either dimensionality reduction or specialised encoding schemes. The goal here is not just to convert data, but to do so in a way that preserves the most important information or the underlying "signal" within the original data. This means we're trying to retain the predictive power while simplifying the representation. This process is especially useful for data that isn't already in a neat, tabular format, or even for structured data that still needs to be converted into a "feature vector," which is essentially a list of numerical features representing a single data point.</a:t>
            </a:r>
            <a:endParaRPr/>
          </a:p>
          <a:p>
            <a:pPr marL="0" lvl="0" indent="0" algn="l" rtl="0">
              <a:lnSpc>
                <a:spcPct val="100000"/>
              </a:lnSpc>
              <a:spcBef>
                <a:spcPts val="0"/>
              </a:spcBef>
              <a:spcAft>
                <a:spcPts val="0"/>
              </a:spcAft>
              <a:buSzPts val="1100"/>
              <a:buNone/>
            </a:pPr>
            <a:endParaRPr/>
          </a:p>
        </p:txBody>
      </p:sp>
      <p:sp>
        <p:nvSpPr>
          <p:cNvPr id="115" name="Google Shape;115;g37084f751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9557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084f751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Technically, feature extraction involves either dimensionality reduction or specialised encoding schemes. The goal here is not just to convert data, but to do so in a way that preserves the most important information or the underlying "signal" within the original data. This means we're trying to retain the predictive power while simplifying the representation. This process is especially useful for data that isn't already in a neat, tabular format, or even for structured data that still needs to be converted into a "feature vector," which is essentially a list of numerical features representing a single data point.</a:t>
            </a:r>
            <a:endParaRPr/>
          </a:p>
          <a:p>
            <a:pPr marL="0" lvl="0" indent="0" algn="l" rtl="0">
              <a:lnSpc>
                <a:spcPct val="100000"/>
              </a:lnSpc>
              <a:spcBef>
                <a:spcPts val="0"/>
              </a:spcBef>
              <a:spcAft>
                <a:spcPts val="0"/>
              </a:spcAft>
              <a:buSzPts val="1100"/>
              <a:buNone/>
            </a:pPr>
            <a:endParaRPr/>
          </a:p>
        </p:txBody>
      </p:sp>
      <p:sp>
        <p:nvSpPr>
          <p:cNvPr id="115" name="Google Shape;115;g37084f751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54623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084f751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Technically, feature extraction involves either dimensionality reduction or specialised encoding schemes. The goal here is not just to convert data, but to do so in a way that preserves the most important information or the underlying "signal" within the original data. This means we're trying to retain the predictive power while simplifying the representation. This process is especially useful for data that isn't already in a neat, tabular format, or even for structured data that still needs to be converted into a "feature vector," which is essentially a list of numerical features representing a single data point.</a:t>
            </a:r>
            <a:endParaRPr/>
          </a:p>
          <a:p>
            <a:pPr marL="0" lvl="0" indent="0" algn="l" rtl="0">
              <a:lnSpc>
                <a:spcPct val="100000"/>
              </a:lnSpc>
              <a:spcBef>
                <a:spcPts val="0"/>
              </a:spcBef>
              <a:spcAft>
                <a:spcPts val="0"/>
              </a:spcAft>
              <a:buSzPts val="1100"/>
              <a:buNone/>
            </a:pPr>
            <a:endParaRPr/>
          </a:p>
        </p:txBody>
      </p:sp>
      <p:sp>
        <p:nvSpPr>
          <p:cNvPr id="115" name="Google Shape;115;g37084f751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7659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9906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0403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8776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4422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7480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7158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55600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4354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51944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5276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4734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1660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41758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3881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1999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46405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26172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886219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160345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38758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41880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12664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57660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74318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44d97f5810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solidFill>
                  <a:srgbClr val="1B1C1D"/>
                </a:solidFill>
              </a:rPr>
              <a:t>After implementing any feature selection technique, it is absolutely crucial to validate its impact. Simply selecting features isn't enough; you need to assess how these selected features influence the performance of your downstream machine learning model. The true measure of a successful feature selection strategy is whether it leads to a better or more efficient model.</a:t>
            </a:r>
            <a:endParaRPr>
              <a:solidFill>
                <a:srgbClr val="1B1C1D"/>
              </a:solidFill>
            </a:endParaRPr>
          </a:p>
        </p:txBody>
      </p:sp>
      <p:sp>
        <p:nvSpPr>
          <p:cNvPr id="358" name="Google Shape;358;g344d97f5810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20853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44d97f5810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solidFill>
                  <a:srgbClr val="1B1C1D"/>
                </a:solidFill>
              </a:rPr>
              <a:t>After implementing any feature selection technique, it is absolutely crucial to validate its impact. Simply selecting features isn't enough; you need to assess how these selected features influence the performance of your downstream machine learning model. The true measure of a successful feature selection strategy is whether it leads to a better or more efficient model.</a:t>
            </a:r>
            <a:endParaRPr>
              <a:solidFill>
                <a:srgbClr val="1B1C1D"/>
              </a:solidFill>
            </a:endParaRPr>
          </a:p>
        </p:txBody>
      </p:sp>
      <p:sp>
        <p:nvSpPr>
          <p:cNvPr id="358" name="Google Shape;358;g344d97f5810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89710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44d97f5810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solidFill>
                  <a:srgbClr val="1B1C1D"/>
                </a:solidFill>
              </a:rPr>
              <a:t>After implementing any feature selection technique, it is absolutely crucial to validate its impact. Simply selecting features isn't enough; you need to assess how these selected features influence the performance of your downstream machine learning model. The true measure of a successful feature selection strategy is whether it leads to a better or more efficient model.</a:t>
            </a:r>
            <a:endParaRPr>
              <a:solidFill>
                <a:srgbClr val="1B1C1D"/>
              </a:solidFill>
            </a:endParaRPr>
          </a:p>
        </p:txBody>
      </p:sp>
      <p:sp>
        <p:nvSpPr>
          <p:cNvPr id="358" name="Google Shape;358;g344d97f5810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0331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4" name="Google Shape;39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98809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7" name="Google Shape;17;p10"/>
          <p:cNvPicPr preferRelativeResize="0"/>
          <p:nvPr/>
        </p:nvPicPr>
        <p:blipFill rotWithShape="1">
          <a:blip r:embed="rId2">
            <a:alphaModFix/>
          </a:blip>
          <a:srcRect/>
          <a:stretch/>
        </p:blipFill>
        <p:spPr>
          <a:xfrm>
            <a:off x="-2" y="6466115"/>
            <a:ext cx="12204000" cy="10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441960" y="349885"/>
            <a:ext cx="9326880" cy="9306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Narrow"/>
              <a:buNone/>
              <a:defRPr b="1" i="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3"/>
          <p:cNvSpPr txBox="1">
            <a:spLocks noGrp="1"/>
          </p:cNvSpPr>
          <p:nvPr>
            <p:ph type="body" idx="1"/>
          </p:nvPr>
        </p:nvSpPr>
        <p:spPr>
          <a:xfrm>
            <a:off x="533400" y="1825625"/>
            <a:ext cx="11323320" cy="4351338"/>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0" name="Google Shape;30;p13"/>
          <p:cNvPicPr preferRelativeResize="0"/>
          <p:nvPr/>
        </p:nvPicPr>
        <p:blipFill rotWithShape="1">
          <a:blip r:embed="rId2">
            <a:alphaModFix/>
          </a:blip>
          <a:srcRect/>
          <a:stretch/>
        </p:blipFill>
        <p:spPr>
          <a:xfrm>
            <a:off x="-2" y="6466115"/>
            <a:ext cx="12204000" cy="108000"/>
          </a:xfrm>
          <a:prstGeom prst="rect">
            <a:avLst/>
          </a:prstGeom>
          <a:noFill/>
          <a:ln>
            <a:noFill/>
          </a:ln>
        </p:spPr>
      </p:pic>
      <p:pic>
        <p:nvPicPr>
          <p:cNvPr id="31" name="Google Shape;31;p13"/>
          <p:cNvPicPr preferRelativeResize="0"/>
          <p:nvPr/>
        </p:nvPicPr>
        <p:blipFill rotWithShape="1">
          <a:blip r:embed="rId3">
            <a:alphaModFix/>
          </a:blip>
          <a:srcRect/>
          <a:stretch/>
        </p:blipFill>
        <p:spPr>
          <a:xfrm>
            <a:off x="-2" y="1295790"/>
            <a:ext cx="4465320" cy="103523"/>
          </a:xfrm>
          <a:prstGeom prst="rect">
            <a:avLst/>
          </a:prstGeom>
          <a:noFill/>
          <a:ln>
            <a:noFill/>
          </a:ln>
        </p:spPr>
      </p:pic>
      <p:pic>
        <p:nvPicPr>
          <p:cNvPr id="32" name="Google Shape;32;p13"/>
          <p:cNvPicPr preferRelativeResize="0"/>
          <p:nvPr/>
        </p:nvPicPr>
        <p:blipFill rotWithShape="1">
          <a:blip r:embed="rId4">
            <a:alphaModFix/>
          </a:blip>
          <a:srcRect/>
          <a:stretch/>
        </p:blipFill>
        <p:spPr>
          <a:xfrm>
            <a:off x="10078720" y="405951"/>
            <a:ext cx="1778000" cy="6794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6" name="Google Shape;3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8" name="Google Shape;58;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8"/>
          <p:cNvSpPr>
            <a:spLocks noGrp="1"/>
          </p:cNvSpPr>
          <p:nvPr>
            <p:ph type="pic" idx="2"/>
          </p:nvPr>
        </p:nvSpPr>
        <p:spPr>
          <a:xfrm>
            <a:off x="5183188" y="987425"/>
            <a:ext cx="6172200" cy="4873625"/>
          </a:xfrm>
          <a:prstGeom prst="rect">
            <a:avLst/>
          </a:prstGeom>
          <a:noFill/>
          <a:ln>
            <a:noFill/>
          </a:ln>
        </p:spPr>
      </p:sp>
      <p:sp>
        <p:nvSpPr>
          <p:cNvPr id="65" name="Google Shape;65;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
          <p:cNvPicPr preferRelativeResize="0"/>
          <p:nvPr/>
        </p:nvPicPr>
        <p:blipFill rotWithShape="1">
          <a:blip r:embed="rId3">
            <a:alphaModFix/>
          </a:blip>
          <a:srcRect/>
          <a:stretch/>
        </p:blipFill>
        <p:spPr>
          <a:xfrm>
            <a:off x="3176241" y="2315842"/>
            <a:ext cx="5839519" cy="22263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a:stretch/>
        </p:blipFill>
        <p:spPr>
          <a:xfrm>
            <a:off x="894099" y="2592668"/>
            <a:ext cx="4387317" cy="1672665"/>
          </a:xfrm>
          <a:prstGeom prst="rect">
            <a:avLst/>
          </a:prstGeom>
          <a:noFill/>
          <a:ln>
            <a:noFill/>
          </a:ln>
        </p:spPr>
      </p:pic>
      <p:sp>
        <p:nvSpPr>
          <p:cNvPr id="91" name="Google Shape;91;p2"/>
          <p:cNvSpPr/>
          <p:nvPr/>
        </p:nvSpPr>
        <p:spPr>
          <a:xfrm>
            <a:off x="6065574" y="2513226"/>
            <a:ext cx="60852" cy="1851425"/>
          </a:xfrm>
          <a:prstGeom prst="rect">
            <a:avLst/>
          </a:prstGeom>
          <a:solidFill>
            <a:srgbClr val="97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2" name="Google Shape;92;p2"/>
          <p:cNvSpPr txBox="1"/>
          <p:nvPr/>
        </p:nvSpPr>
        <p:spPr>
          <a:xfrm>
            <a:off x="6816256" y="2513226"/>
            <a:ext cx="3971014" cy="61752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9700FF"/>
              </a:buClr>
              <a:buSzPts val="2800"/>
              <a:buFont typeface="Arial Narrow"/>
              <a:buNone/>
            </a:pPr>
            <a:r>
              <a:rPr lang="en-US" sz="2800" b="1" i="0" u="none" strike="noStrike" cap="none">
                <a:solidFill>
                  <a:srgbClr val="9700FF"/>
                </a:solidFill>
                <a:latin typeface="Arial Narrow"/>
                <a:ea typeface="Arial Narrow"/>
                <a:cs typeface="Arial Narrow"/>
                <a:sym typeface="Arial Narrow"/>
              </a:rPr>
              <a:t>Feature Engineering</a:t>
            </a:r>
            <a:endParaRPr sz="2800" b="1" i="0" u="none" strike="noStrike" cap="none">
              <a:solidFill>
                <a:srgbClr val="9700FF"/>
              </a:solidFill>
              <a:latin typeface="Arial Narrow"/>
              <a:ea typeface="Arial Narrow"/>
              <a:cs typeface="Arial Narrow"/>
              <a:sym typeface="Arial Narrow"/>
            </a:endParaRPr>
          </a:p>
        </p:txBody>
      </p:sp>
      <p:sp>
        <p:nvSpPr>
          <p:cNvPr id="93" name="Google Shape;93;p2"/>
          <p:cNvSpPr txBox="1"/>
          <p:nvPr/>
        </p:nvSpPr>
        <p:spPr>
          <a:xfrm>
            <a:off x="6910584" y="3193775"/>
            <a:ext cx="3876686" cy="874643"/>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General Feature Engineering Techniques</a:t>
            </a:r>
            <a:endParaRPr sz="2400" b="1" i="0" u="none" strike="noStrike" cap="none">
              <a:solidFill>
                <a:schemeClr val="dk1"/>
              </a:solidFill>
              <a:latin typeface="Arial"/>
              <a:ea typeface="Arial"/>
              <a:cs typeface="Arial"/>
              <a:sym typeface="Arial"/>
            </a:endParaRPr>
          </a:p>
        </p:txBody>
      </p:sp>
      <p:sp>
        <p:nvSpPr>
          <p:cNvPr id="94" name="Google Shape;94;p2"/>
          <p:cNvSpPr txBox="1"/>
          <p:nvPr/>
        </p:nvSpPr>
        <p:spPr>
          <a:xfrm>
            <a:off x="6910584" y="4119559"/>
            <a:ext cx="3876686" cy="425937"/>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Prof. Anita Ramachandran </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707f902fe4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General Feature Engineering Techniques</a:t>
            </a:r>
            <a:endParaRPr sz="4400" b="1" i="0" u="none" strike="noStrike" cap="none">
              <a:solidFill>
                <a:schemeClr val="dk1"/>
              </a:solidFill>
              <a:latin typeface="Arial Narrow"/>
              <a:ea typeface="Arial Narrow"/>
              <a:cs typeface="Arial Narrow"/>
              <a:sym typeface="Arial Narrow"/>
            </a:endParaRPr>
          </a:p>
        </p:txBody>
      </p:sp>
      <p:sp>
        <p:nvSpPr>
          <p:cNvPr id="100" name="Google Shape;100;g3707f902fe4_0_0"/>
          <p:cNvSpPr txBox="1"/>
          <p:nvPr/>
        </p:nvSpPr>
        <p:spPr>
          <a:xfrm>
            <a:off x="533400" y="1825625"/>
            <a:ext cx="11323200" cy="43512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300"/>
              </a:spcBef>
              <a:spcAft>
                <a:spcPts val="300"/>
              </a:spcAft>
              <a:buClr>
                <a:srgbClr val="000000"/>
              </a:buClr>
              <a:buSzPts val="2400"/>
              <a:buFont typeface="Arial"/>
              <a:buNone/>
            </a:pPr>
            <a:r>
              <a:rPr lang="en-US" sz="2000" b="1" i="0" u="none" strike="noStrike" cap="none" dirty="0">
                <a:solidFill>
                  <a:schemeClr val="dk1"/>
                </a:solidFill>
                <a:latin typeface="Arial"/>
                <a:ea typeface="Arial"/>
                <a:cs typeface="Arial"/>
                <a:sym typeface="Arial"/>
              </a:rPr>
              <a:t>Key Techniques:</a:t>
            </a:r>
            <a:endParaRPr sz="2000" b="1"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Feature Extraction</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Feature Construction</a:t>
            </a:r>
            <a:endParaRPr sz="18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rial"/>
                <a:ea typeface="Arial"/>
                <a:cs typeface="Arial"/>
                <a:sym typeface="Arial"/>
              </a:rPr>
              <a:t>Feature Selection</a:t>
            </a:r>
            <a:endParaRPr sz="1800" b="0" i="0" u="none" strike="noStrike" cap="none" dirty="0">
              <a:solidFill>
                <a:schemeClr val="dk1"/>
              </a:solidFill>
              <a:latin typeface="Arial"/>
              <a:ea typeface="Arial"/>
              <a:cs typeface="Arial"/>
              <a:sym typeface="Arial"/>
            </a:endParaRPr>
          </a:p>
          <a:p>
            <a:pPr marL="457200" marR="0" lvl="0" indent="0" algn="l" rtl="0">
              <a:lnSpc>
                <a:spcPct val="9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a:p>
            <a:pPr marL="914400" marR="0" lvl="0" indent="0" algn="l" rtl="0">
              <a:lnSpc>
                <a:spcPct val="9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a:p>
            <a:pPr marL="0" marR="0" lvl="0" indent="0" algn="l" rtl="0">
              <a:lnSpc>
                <a:spcPct val="90000"/>
              </a:lnSpc>
              <a:spcBef>
                <a:spcPts val="100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Arial"/>
              <a:ea typeface="Arial"/>
              <a:cs typeface="Arial"/>
              <a:sym typeface="Arial"/>
            </a:endParaRPr>
          </a:p>
        </p:txBody>
      </p:sp>
      <p:pic>
        <p:nvPicPr>
          <p:cNvPr id="101" name="Google Shape;101;g3707f902fe4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02" name="Google Shape;102;g3707f902fe4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03" name="Google Shape;103;g3707f902fe4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708268c0a4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Extraction</a:t>
            </a:r>
            <a:endParaRPr sz="4400" b="1" i="0" u="none" strike="noStrike" cap="none">
              <a:solidFill>
                <a:schemeClr val="dk1"/>
              </a:solidFill>
              <a:latin typeface="Arial Narrow"/>
              <a:ea typeface="Arial Narrow"/>
              <a:cs typeface="Arial Narrow"/>
              <a:sym typeface="Arial Narrow"/>
            </a:endParaRPr>
          </a:p>
        </p:txBody>
      </p:sp>
      <p:sp>
        <p:nvSpPr>
          <p:cNvPr id="109" name="Google Shape;109;g3708268c0a4_0_0"/>
          <p:cNvSpPr txBox="1"/>
          <p:nvPr/>
        </p:nvSpPr>
        <p:spPr>
          <a:xfrm>
            <a:off x="533400" y="1825625"/>
            <a:ext cx="11323200" cy="43512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200"/>
              </a:spcBef>
              <a:spcAft>
                <a:spcPts val="200"/>
              </a:spcAft>
              <a:buClr>
                <a:srgbClr val="000000"/>
              </a:buClr>
              <a:buSzPts val="2400"/>
              <a:buFont typeface="Arial"/>
              <a:buNone/>
            </a:pPr>
            <a:r>
              <a:rPr lang="en-US" sz="1800" dirty="0">
                <a:solidFill>
                  <a:schemeClr val="dk1"/>
                </a:solidFill>
              </a:rPr>
              <a:t>Feature extraction is the process of t</a:t>
            </a:r>
            <a:r>
              <a:rPr lang="en-US" sz="1800" b="0" i="0" u="none" strike="noStrike" cap="none" dirty="0">
                <a:solidFill>
                  <a:schemeClr val="dk1"/>
                </a:solidFill>
                <a:sym typeface="Arial"/>
              </a:rPr>
              <a:t>ransforming high-dimensional or unstructured data into structured numerical representations.</a:t>
            </a:r>
            <a:endParaRPr sz="1800" b="0" i="0" u="none" strike="noStrike" cap="none" dirty="0">
              <a:solidFill>
                <a:schemeClr val="dk1"/>
              </a:solidFill>
              <a:sym typeface="Arial"/>
            </a:endParaRPr>
          </a:p>
          <a:p>
            <a:pPr marL="0" marR="0" lvl="0" indent="0" algn="l" rtl="0">
              <a:lnSpc>
                <a:spcPct val="90000"/>
              </a:lnSpc>
              <a:spcBef>
                <a:spcPts val="200"/>
              </a:spcBef>
              <a:spcAft>
                <a:spcPts val="200"/>
              </a:spcAft>
              <a:buClr>
                <a:srgbClr val="000000"/>
              </a:buClr>
              <a:buSzPts val="2400"/>
              <a:buFont typeface="Arial"/>
              <a:buNone/>
            </a:pPr>
            <a:endParaRPr sz="1800" b="0" i="0" u="none" strike="noStrike" cap="none" dirty="0">
              <a:solidFill>
                <a:schemeClr val="dk1"/>
              </a:solidFill>
              <a:sym typeface="Arial"/>
            </a:endParaRPr>
          </a:p>
          <a:p>
            <a:pPr marL="0" marR="0" lvl="0" indent="0" algn="l" rtl="0">
              <a:lnSpc>
                <a:spcPct val="90000"/>
              </a:lnSpc>
              <a:spcBef>
                <a:spcPts val="200"/>
              </a:spcBef>
              <a:spcAft>
                <a:spcPts val="200"/>
              </a:spcAft>
              <a:buClr>
                <a:srgbClr val="000000"/>
              </a:buClr>
              <a:buSzPts val="2400"/>
              <a:buFont typeface="Arial"/>
              <a:buNone/>
            </a:pPr>
            <a:r>
              <a:rPr lang="en-US" sz="1800" b="0" i="0" u="none" strike="noStrike" cap="none" dirty="0">
                <a:solidFill>
                  <a:schemeClr val="dk1"/>
                </a:solidFill>
                <a:sym typeface="Arial"/>
              </a:rPr>
              <a:t>Applicable to text, images, audio, or complex temporal sequences</a:t>
            </a:r>
            <a:r>
              <a:rPr lang="en-US" sz="1800" b="0" i="0" u="none" strike="noStrike" cap="none" dirty="0" smtClean="0">
                <a:solidFill>
                  <a:schemeClr val="dk1"/>
                </a:solidFill>
                <a:sym typeface="Arial"/>
              </a:rPr>
              <a:t>.</a:t>
            </a:r>
            <a:endParaRPr sz="1800" b="0" i="0" u="none" strike="noStrike" cap="none" dirty="0">
              <a:solidFill>
                <a:schemeClr val="dk1"/>
              </a:solidFill>
              <a:sym typeface="Arial"/>
            </a:endParaRPr>
          </a:p>
        </p:txBody>
      </p:sp>
      <p:pic>
        <p:nvPicPr>
          <p:cNvPr id="110" name="Google Shape;110;g3708268c0a4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11" name="Google Shape;111;g3708268c0a4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12" name="Google Shape;112;g3708268c0a4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7084f751b1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Extraction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18" name="Google Shape;118;g37084f751b1_0_0"/>
          <p:cNvSpPr txBox="1"/>
          <p:nvPr/>
        </p:nvSpPr>
        <p:spPr>
          <a:xfrm>
            <a:off x="488889" y="1825625"/>
            <a:ext cx="11331499" cy="4351200"/>
          </a:xfrm>
          <a:prstGeom prst="rect">
            <a:avLst/>
          </a:prstGeom>
          <a:noFill/>
          <a:ln>
            <a:noFill/>
          </a:ln>
        </p:spPr>
        <p:txBody>
          <a:bodyPr spcFirstLastPara="1" wrap="square" lIns="91425" tIns="45700" rIns="91425" bIns="45700" anchor="t" anchorCtr="0">
            <a:normAutofit/>
          </a:bodyPr>
          <a:lstStyle/>
          <a:p>
            <a:pPr marL="457200" marR="0" lvl="0" indent="-381000" algn="l" rtl="0">
              <a:lnSpc>
                <a:spcPct val="90000"/>
              </a:lnSpc>
              <a:spcBef>
                <a:spcPts val="300"/>
              </a:spcBef>
              <a:spcAft>
                <a:spcPts val="300"/>
              </a:spcAft>
              <a:buClr>
                <a:schemeClr val="dk1"/>
              </a:buClr>
              <a:buSzPct val="100000"/>
              <a:buFont typeface="Arial"/>
              <a:buChar char="●"/>
            </a:pPr>
            <a:r>
              <a:rPr lang="en-US" sz="2000" b="0" i="0" u="none" strike="noStrike" cap="none" dirty="0">
                <a:solidFill>
                  <a:schemeClr val="dk1"/>
                </a:solidFill>
                <a:latin typeface="Arial"/>
                <a:ea typeface="Arial"/>
                <a:cs typeface="Arial"/>
                <a:sym typeface="Arial"/>
              </a:rPr>
              <a:t>Involves dimensionality reduction or encoding schemes.</a:t>
            </a:r>
            <a:endParaRPr sz="20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2000" b="0" i="0" u="none" strike="noStrike" cap="none" dirty="0">
                <a:solidFill>
                  <a:schemeClr val="dk1"/>
                </a:solidFill>
                <a:latin typeface="Arial"/>
                <a:ea typeface="Arial"/>
                <a:cs typeface="Arial"/>
                <a:sym typeface="Arial"/>
              </a:rPr>
              <a:t>Preserves underlying structure or signal.</a:t>
            </a:r>
            <a:endParaRPr sz="2000" b="0" i="0" u="none" strike="noStrike" cap="none" dirty="0">
              <a:solidFill>
                <a:schemeClr val="dk1"/>
              </a:solidFill>
              <a:latin typeface="Arial"/>
              <a:ea typeface="Arial"/>
              <a:cs typeface="Arial"/>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2000" b="0" i="0" u="none" strike="noStrike" cap="none" dirty="0">
                <a:solidFill>
                  <a:schemeClr val="dk1"/>
                </a:solidFill>
                <a:latin typeface="Arial"/>
                <a:ea typeface="Arial"/>
                <a:cs typeface="Arial"/>
                <a:sym typeface="Arial"/>
              </a:rPr>
              <a:t>Applicable to non-tabular data or structured data requiring transformation into a feature </a:t>
            </a:r>
            <a:r>
              <a:rPr lang="en-US" sz="2000" b="0" i="0" u="none" strike="noStrike" cap="none" dirty="0" smtClean="0">
                <a:solidFill>
                  <a:schemeClr val="dk1"/>
                </a:solidFill>
                <a:latin typeface="Arial"/>
                <a:ea typeface="Arial"/>
                <a:cs typeface="Arial"/>
                <a:sym typeface="Arial"/>
              </a:rPr>
              <a:t>vector.</a:t>
            </a:r>
          </a:p>
          <a:p>
            <a:pPr marL="0" marR="0" lvl="0" indent="0" algn="l"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Arial"/>
              <a:ea typeface="Arial"/>
              <a:cs typeface="Arial"/>
              <a:sym typeface="Arial"/>
            </a:endParaRPr>
          </a:p>
        </p:txBody>
      </p:sp>
      <p:pic>
        <p:nvPicPr>
          <p:cNvPr id="119" name="Google Shape;119;g37084f751b1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21" name="Google Shape;121;g37084f751b1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7084f751b1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Extraction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18" name="Google Shape;118;g37084f751b1_0_0"/>
          <p:cNvSpPr txBox="1"/>
          <p:nvPr/>
        </p:nvSpPr>
        <p:spPr>
          <a:xfrm>
            <a:off x="488889" y="1825625"/>
            <a:ext cx="11331499" cy="4351200"/>
          </a:xfrm>
          <a:prstGeom prst="rect">
            <a:avLst/>
          </a:prstGeom>
          <a:noFill/>
          <a:ln>
            <a:noFill/>
          </a:ln>
        </p:spPr>
        <p:txBody>
          <a:bodyPr spcFirstLastPara="1" wrap="square" lIns="91425" tIns="45700" rIns="91425" bIns="45700" anchor="t" anchorCtr="0">
            <a:normAutofit/>
          </a:bodyPr>
          <a:lstStyle/>
          <a:p>
            <a:pPr lvl="0">
              <a:spcBef>
                <a:spcPts val="400"/>
              </a:spcBef>
              <a:spcAft>
                <a:spcPts val="400"/>
              </a:spcAft>
              <a:buSzPts val="2400"/>
            </a:pPr>
            <a:r>
              <a:rPr lang="en-US" sz="1800" b="1" dirty="0"/>
              <a:t>Examples</a:t>
            </a:r>
            <a:r>
              <a:rPr lang="en-US" sz="1800" dirty="0"/>
              <a:t> - Text and Image Data</a:t>
            </a:r>
          </a:p>
          <a:p>
            <a:pPr lvl="0">
              <a:spcBef>
                <a:spcPts val="400"/>
              </a:spcBef>
              <a:spcAft>
                <a:spcPts val="400"/>
              </a:spcAft>
              <a:buSzPts val="2400"/>
            </a:pPr>
            <a:r>
              <a:rPr lang="en-US" sz="1800" b="1" dirty="0"/>
              <a:t>Text Data:</a:t>
            </a:r>
          </a:p>
          <a:p>
            <a:pPr marL="457200" lvl="0" indent="-381000">
              <a:spcBef>
                <a:spcPts val="400"/>
              </a:spcBef>
              <a:spcAft>
                <a:spcPts val="400"/>
              </a:spcAft>
              <a:buSzPct val="100000"/>
              <a:buFont typeface="Arial"/>
              <a:buChar char="●"/>
            </a:pPr>
            <a:r>
              <a:rPr lang="en-US" sz="1800" dirty="0"/>
              <a:t>Converting documents to TF-IDF scores.</a:t>
            </a:r>
          </a:p>
          <a:p>
            <a:pPr marL="457200" lvl="0" indent="-381000">
              <a:spcBef>
                <a:spcPts val="400"/>
              </a:spcBef>
              <a:spcAft>
                <a:spcPts val="400"/>
              </a:spcAft>
              <a:buSzPct val="100000"/>
              <a:buFont typeface="Arial"/>
              <a:buChar char="●"/>
            </a:pPr>
            <a:r>
              <a:rPr lang="en-US" sz="1800" dirty="0"/>
              <a:t>Bag-of-words vectors.</a:t>
            </a:r>
          </a:p>
          <a:p>
            <a:pPr marL="457200" lvl="0" indent="-381000">
              <a:spcBef>
                <a:spcPts val="400"/>
              </a:spcBef>
              <a:spcAft>
                <a:spcPts val="400"/>
              </a:spcAft>
              <a:buSzPct val="100000"/>
              <a:buFont typeface="Arial"/>
              <a:buChar char="●"/>
            </a:pPr>
            <a:r>
              <a:rPr lang="en-US" sz="1800" dirty="0" err="1"/>
              <a:t>Embeddings</a:t>
            </a:r>
            <a:r>
              <a:rPr lang="en-US" sz="1800" dirty="0"/>
              <a:t> (Word2Vec, BERT).</a:t>
            </a:r>
          </a:p>
          <a:p>
            <a:pPr lvl="0">
              <a:spcBef>
                <a:spcPts val="400"/>
              </a:spcBef>
              <a:spcAft>
                <a:spcPts val="400"/>
              </a:spcAft>
              <a:buSzPts val="2400"/>
            </a:pPr>
            <a:r>
              <a:rPr lang="en-US" sz="1800" b="1" dirty="0"/>
              <a:t>Image Data:</a:t>
            </a:r>
          </a:p>
          <a:p>
            <a:pPr marL="457200" lvl="0" indent="-381000">
              <a:spcBef>
                <a:spcPts val="400"/>
              </a:spcBef>
              <a:spcAft>
                <a:spcPts val="400"/>
              </a:spcAft>
              <a:buSzPct val="100000"/>
              <a:buFont typeface="Arial"/>
              <a:buChar char="●"/>
            </a:pPr>
            <a:r>
              <a:rPr lang="en-US" sz="1800" dirty="0"/>
              <a:t>Extracting edge, shape, or color histograms.</a:t>
            </a:r>
          </a:p>
          <a:p>
            <a:pPr marL="457200" lvl="0" indent="-381000">
              <a:spcBef>
                <a:spcPts val="400"/>
              </a:spcBef>
              <a:spcAft>
                <a:spcPts val="400"/>
              </a:spcAft>
              <a:buSzPct val="100000"/>
              <a:buFont typeface="Arial"/>
              <a:buChar char="●"/>
            </a:pPr>
            <a:r>
              <a:rPr lang="en-US" sz="1800" dirty="0"/>
              <a:t>Using pre-trained convolutional layers.</a:t>
            </a:r>
          </a:p>
          <a:p>
            <a:pPr marL="0" marR="0" lvl="0" indent="0" algn="l"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Arial"/>
              <a:ea typeface="Arial"/>
              <a:cs typeface="Arial"/>
              <a:sym typeface="Arial"/>
            </a:endParaRPr>
          </a:p>
        </p:txBody>
      </p:sp>
      <p:pic>
        <p:nvPicPr>
          <p:cNvPr id="119" name="Google Shape;119;g37084f751b1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21" name="Google Shape;121;g37084f751b1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824911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7084f751b1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Extraction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18" name="Google Shape;118;g37084f751b1_0_0"/>
          <p:cNvSpPr txBox="1"/>
          <p:nvPr/>
        </p:nvSpPr>
        <p:spPr>
          <a:xfrm>
            <a:off x="488889" y="1825625"/>
            <a:ext cx="11331499" cy="4351200"/>
          </a:xfrm>
          <a:prstGeom prst="rect">
            <a:avLst/>
          </a:prstGeom>
          <a:noFill/>
          <a:ln>
            <a:noFill/>
          </a:ln>
        </p:spPr>
        <p:txBody>
          <a:bodyPr spcFirstLastPara="1" wrap="square" lIns="91425" tIns="45700" rIns="91425" bIns="45700" anchor="t" anchorCtr="0">
            <a:normAutofit/>
          </a:bodyPr>
          <a:lstStyle/>
          <a:p>
            <a:pPr lvl="0">
              <a:spcBef>
                <a:spcPts val="400"/>
              </a:spcBef>
              <a:spcAft>
                <a:spcPts val="400"/>
              </a:spcAft>
              <a:buSzPts val="2400"/>
            </a:pPr>
            <a:r>
              <a:rPr lang="en-US" sz="1800" b="1" dirty="0"/>
              <a:t>Examples</a:t>
            </a:r>
            <a:r>
              <a:rPr lang="en-US" sz="1800" dirty="0"/>
              <a:t> - Audio and Time-Series Data</a:t>
            </a:r>
          </a:p>
          <a:p>
            <a:pPr lvl="0">
              <a:spcBef>
                <a:spcPts val="400"/>
              </a:spcBef>
              <a:spcAft>
                <a:spcPts val="400"/>
              </a:spcAft>
              <a:buSzPts val="2400"/>
            </a:pPr>
            <a:r>
              <a:rPr lang="en-US" sz="1800" b="1" dirty="0"/>
              <a:t>Audio Data:</a:t>
            </a:r>
          </a:p>
          <a:p>
            <a:pPr marL="457200" lvl="0" indent="-381000">
              <a:spcBef>
                <a:spcPts val="400"/>
              </a:spcBef>
              <a:spcAft>
                <a:spcPts val="400"/>
              </a:spcAft>
              <a:buSzPct val="100000"/>
              <a:buFont typeface="Arial"/>
              <a:buChar char="●"/>
            </a:pPr>
            <a:r>
              <a:rPr lang="en-US" sz="1800" dirty="0"/>
              <a:t>Transforming waveform signals into frequency-based representations (e.g., Mel-frequency </a:t>
            </a:r>
            <a:r>
              <a:rPr lang="en-US" sz="1800" dirty="0" err="1"/>
              <a:t>cepstral</a:t>
            </a:r>
            <a:r>
              <a:rPr lang="en-US" sz="1800" dirty="0"/>
              <a:t> coefficients).</a:t>
            </a:r>
          </a:p>
          <a:p>
            <a:pPr lvl="0">
              <a:spcBef>
                <a:spcPts val="400"/>
              </a:spcBef>
              <a:spcAft>
                <a:spcPts val="400"/>
              </a:spcAft>
              <a:buSzPts val="2400"/>
            </a:pPr>
            <a:r>
              <a:rPr lang="en-US" sz="1800" b="1" dirty="0"/>
              <a:t>Time-Series Data:</a:t>
            </a:r>
          </a:p>
          <a:p>
            <a:pPr marL="457200" lvl="0" indent="-381000">
              <a:spcBef>
                <a:spcPts val="400"/>
              </a:spcBef>
              <a:spcAft>
                <a:spcPts val="400"/>
              </a:spcAft>
              <a:buSzPct val="100000"/>
              <a:buFont typeface="Arial"/>
              <a:buChar char="●"/>
            </a:pPr>
            <a:r>
              <a:rPr lang="en-US" sz="1800" dirty="0"/>
              <a:t>Extracting trend, seasonality, lag, rolling statistics. </a:t>
            </a:r>
          </a:p>
          <a:p>
            <a:pPr marL="457200" lvl="0" indent="-381000">
              <a:spcBef>
                <a:spcPts val="400"/>
              </a:spcBef>
              <a:spcAft>
                <a:spcPts val="400"/>
              </a:spcAft>
              <a:buSzPct val="100000"/>
              <a:buFont typeface="Arial"/>
              <a:buChar char="●"/>
            </a:pPr>
            <a:r>
              <a:rPr lang="en-US" sz="1800" dirty="0"/>
              <a:t>Frequency-domain features using Fourier transforms</a:t>
            </a:r>
          </a:p>
        </p:txBody>
      </p:sp>
      <p:pic>
        <p:nvPicPr>
          <p:cNvPr id="119" name="Google Shape;119;g37084f751b1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21" name="Google Shape;121;g37084f751b1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280436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7084f751b1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Extraction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18" name="Google Shape;118;g37084f751b1_0_0"/>
          <p:cNvSpPr txBox="1"/>
          <p:nvPr/>
        </p:nvSpPr>
        <p:spPr>
          <a:xfrm>
            <a:off x="488889" y="1861837"/>
            <a:ext cx="11331499" cy="4339785"/>
          </a:xfrm>
          <a:prstGeom prst="rect">
            <a:avLst/>
          </a:prstGeom>
          <a:noFill/>
          <a:ln>
            <a:noFill/>
          </a:ln>
        </p:spPr>
        <p:txBody>
          <a:bodyPr spcFirstLastPara="1" wrap="square" lIns="91425" tIns="45700" rIns="91425" bIns="45700" anchor="t" anchorCtr="0">
            <a:normAutofit/>
          </a:bodyPr>
          <a:lstStyle/>
          <a:p>
            <a:pPr lvl="0">
              <a:lnSpc>
                <a:spcPct val="90000"/>
              </a:lnSpc>
              <a:spcBef>
                <a:spcPts val="400"/>
              </a:spcBef>
              <a:spcAft>
                <a:spcPts val="400"/>
              </a:spcAft>
              <a:buSzPts val="2400"/>
            </a:pPr>
            <a:r>
              <a:rPr lang="en-US" sz="1800" dirty="0"/>
              <a:t>When to </a:t>
            </a:r>
            <a:r>
              <a:rPr lang="en-US" sz="1800" dirty="0" smtClean="0"/>
              <a:t>Use</a:t>
            </a:r>
            <a:endParaRPr lang="en-US" sz="1800" dirty="0"/>
          </a:p>
          <a:p>
            <a:pPr marL="457200" lvl="0" indent="-381000">
              <a:lnSpc>
                <a:spcPct val="90000"/>
              </a:lnSpc>
              <a:spcBef>
                <a:spcPts val="400"/>
              </a:spcBef>
              <a:spcAft>
                <a:spcPts val="400"/>
              </a:spcAft>
              <a:buSzPct val="100000"/>
              <a:buFont typeface="Arial"/>
              <a:buChar char="●"/>
            </a:pPr>
            <a:r>
              <a:rPr lang="en-US" sz="1800" dirty="0"/>
              <a:t>When raw format is not inherently numerical or interpretable by ML models.</a:t>
            </a:r>
          </a:p>
          <a:p>
            <a:pPr marL="457200" lvl="0" indent="-381000">
              <a:lnSpc>
                <a:spcPct val="90000"/>
              </a:lnSpc>
              <a:spcBef>
                <a:spcPts val="400"/>
              </a:spcBef>
              <a:spcAft>
                <a:spcPts val="400"/>
              </a:spcAft>
              <a:buSzPct val="100000"/>
              <a:buFont typeface="Arial"/>
              <a:buChar char="●"/>
            </a:pPr>
            <a:r>
              <a:rPr lang="en-US" sz="1800" dirty="0"/>
              <a:t>When reducing input dimensionality while retaining predictive power is </a:t>
            </a:r>
            <a:r>
              <a:rPr lang="en-US" sz="1800" dirty="0" smtClean="0"/>
              <a:t>crucial.</a:t>
            </a:r>
          </a:p>
          <a:p>
            <a:pPr marL="457200" lvl="0">
              <a:lnSpc>
                <a:spcPct val="90000"/>
              </a:lnSpc>
              <a:spcBef>
                <a:spcPts val="400"/>
              </a:spcBef>
              <a:spcAft>
                <a:spcPts val="400"/>
              </a:spcAft>
              <a:buSzPts val="2400"/>
            </a:pPr>
            <a:endParaRPr lang="en-US" sz="1800" dirty="0"/>
          </a:p>
          <a:p>
            <a:pPr marL="457200" lvl="0">
              <a:lnSpc>
                <a:spcPct val="90000"/>
              </a:lnSpc>
              <a:spcBef>
                <a:spcPts val="400"/>
              </a:spcBef>
              <a:spcAft>
                <a:spcPts val="400"/>
              </a:spcAft>
              <a:buSzPts val="2400"/>
            </a:pPr>
            <a:endParaRPr lang="en-US" sz="1800" dirty="0"/>
          </a:p>
          <a:p>
            <a:pPr marL="457200" lvl="0">
              <a:lnSpc>
                <a:spcPct val="90000"/>
              </a:lnSpc>
              <a:spcBef>
                <a:spcPts val="400"/>
              </a:spcBef>
              <a:spcAft>
                <a:spcPts val="400"/>
              </a:spcAft>
              <a:buSzPts val="1100"/>
            </a:pPr>
            <a:endParaRPr lang="en-US" sz="1800" dirty="0"/>
          </a:p>
          <a:p>
            <a:pPr lvl="0">
              <a:lnSpc>
                <a:spcPct val="90000"/>
              </a:lnSpc>
              <a:spcBef>
                <a:spcPts val="400"/>
              </a:spcBef>
              <a:spcAft>
                <a:spcPts val="400"/>
              </a:spcAft>
              <a:buSzPts val="2400"/>
            </a:pPr>
            <a:endParaRPr lang="en-US" sz="1800" dirty="0"/>
          </a:p>
        </p:txBody>
      </p:sp>
      <p:pic>
        <p:nvPicPr>
          <p:cNvPr id="119" name="Google Shape;119;g37084f751b1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21" name="Google Shape;121;g37084f751b1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991371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Construction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400" y="1888996"/>
            <a:ext cx="11323200" cy="433978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US" sz="1800" dirty="0">
                <a:solidFill>
                  <a:schemeClr val="dk1"/>
                </a:solidFill>
              </a:rPr>
              <a:t>Feature construction is the process of g</a:t>
            </a:r>
            <a:r>
              <a:rPr lang="en-US" sz="1800" b="0" i="0" u="none" strike="noStrike" cap="none" dirty="0">
                <a:solidFill>
                  <a:schemeClr val="dk1"/>
                </a:solidFill>
                <a:sym typeface="Arial"/>
              </a:rPr>
              <a:t>enerating new variables by combining, transforming, or deriving existing features in a dataset</a:t>
            </a:r>
            <a:r>
              <a:rPr lang="en-US" sz="1800" b="0" i="0" u="none" strike="noStrike" cap="none" dirty="0" smtClean="0">
                <a:solidFill>
                  <a:schemeClr val="dk1"/>
                </a:solidFill>
                <a:sym typeface="Arial"/>
              </a:rPr>
              <a:t>.</a:t>
            </a:r>
            <a:endParaRPr sz="1800" b="0" i="0" u="none" strike="noStrike" cap="none" dirty="0">
              <a:solidFill>
                <a:schemeClr val="dk1"/>
              </a:solidFill>
              <a:sym typeface="Arial"/>
            </a:endParaRPr>
          </a:p>
          <a:p>
            <a:pPr marL="0" marR="0" lvl="0" indent="0" algn="l" rtl="0">
              <a:lnSpc>
                <a:spcPct val="90000"/>
              </a:lnSpc>
              <a:spcBef>
                <a:spcPts val="1000"/>
              </a:spcBef>
              <a:spcAft>
                <a:spcPts val="0"/>
              </a:spcAft>
              <a:buClr>
                <a:schemeClr val="dk1"/>
              </a:buClr>
              <a:buSzPts val="2400"/>
              <a:buFont typeface="Arial"/>
              <a:buNone/>
            </a:pPr>
            <a:endParaRPr sz="1800" b="0" i="0" u="none" strike="noStrike" cap="none" dirty="0">
              <a:solidFill>
                <a:schemeClr val="dk1"/>
              </a:solidFill>
              <a:sym typeface="Aria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Construction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400" y="1888996"/>
            <a:ext cx="11323200" cy="4339785"/>
          </a:xfrm>
          <a:prstGeom prst="rect">
            <a:avLst/>
          </a:prstGeom>
          <a:noFill/>
          <a:ln>
            <a:noFill/>
          </a:ln>
        </p:spPr>
        <p:txBody>
          <a:bodyPr spcFirstLastPara="1" wrap="square" lIns="91425" tIns="45700" rIns="91425" bIns="45700" anchor="t" anchorCtr="0">
            <a:normAutofit/>
          </a:bodyPr>
          <a:lstStyle/>
          <a:p>
            <a:pPr lvl="0">
              <a:lnSpc>
                <a:spcPct val="90000"/>
              </a:lnSpc>
              <a:spcBef>
                <a:spcPts val="300"/>
              </a:spcBef>
              <a:spcAft>
                <a:spcPts val="300"/>
              </a:spcAft>
              <a:buClr>
                <a:schemeClr val="dk1"/>
              </a:buClr>
              <a:buSzPts val="2400"/>
            </a:pPr>
            <a:r>
              <a:rPr lang="en-US" sz="2000" b="1" dirty="0">
                <a:solidFill>
                  <a:schemeClr val="dk1"/>
                </a:solidFill>
              </a:rPr>
              <a:t>Technical Concepts</a:t>
            </a:r>
          </a:p>
          <a:p>
            <a:pPr marL="457200" lvl="0" indent="-381000">
              <a:lnSpc>
                <a:spcPct val="90000"/>
              </a:lnSpc>
              <a:spcBef>
                <a:spcPts val="300"/>
              </a:spcBef>
              <a:spcAft>
                <a:spcPts val="300"/>
              </a:spcAft>
              <a:buClr>
                <a:schemeClr val="dk1"/>
              </a:buClr>
              <a:buSzPct val="100000"/>
              <a:buFont typeface="Arial"/>
              <a:buChar char="●"/>
            </a:pPr>
            <a:r>
              <a:rPr lang="en-US" sz="1800" dirty="0">
                <a:solidFill>
                  <a:schemeClr val="dk1"/>
                </a:solidFill>
              </a:rPr>
              <a:t>Based on domain expertise, statistical theory, or functional transformations (log, square root, etc.).</a:t>
            </a:r>
          </a:p>
          <a:p>
            <a:pPr marL="457200" lvl="0" indent="-381000">
              <a:lnSpc>
                <a:spcPct val="90000"/>
              </a:lnSpc>
              <a:spcBef>
                <a:spcPts val="300"/>
              </a:spcBef>
              <a:spcAft>
                <a:spcPts val="300"/>
              </a:spcAft>
              <a:buClr>
                <a:schemeClr val="dk1"/>
              </a:buClr>
              <a:buSzPct val="100000"/>
              <a:buFont typeface="Arial"/>
              <a:buChar char="●"/>
            </a:pPr>
            <a:r>
              <a:rPr lang="en-US" sz="1800" dirty="0">
                <a:solidFill>
                  <a:schemeClr val="dk1"/>
                </a:solidFill>
              </a:rPr>
              <a:t>Enhances expressiveness and predictive capacity by revealing hidden patterns.</a:t>
            </a:r>
            <a:endParaRPr lang="en-US" sz="1800" dirty="0">
              <a:solidFill>
                <a:schemeClr val="dk1"/>
              </a:solidFil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088258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Construction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lvl="0">
              <a:spcBef>
                <a:spcPts val="300"/>
              </a:spcBef>
              <a:spcAft>
                <a:spcPts val="300"/>
              </a:spcAft>
              <a:buSzPts val="2400"/>
            </a:pPr>
            <a:r>
              <a:rPr lang="en-US" sz="1800" b="1" dirty="0"/>
              <a:t>Examples</a:t>
            </a:r>
            <a:r>
              <a:rPr lang="en-US" sz="1800" dirty="0"/>
              <a:t> - Interaction and Polynomial </a:t>
            </a:r>
            <a:r>
              <a:rPr lang="en-US" sz="1800" dirty="0" smtClean="0"/>
              <a:t>Features</a:t>
            </a:r>
            <a:endParaRPr lang="en-US" sz="1800" dirty="0"/>
          </a:p>
          <a:p>
            <a:pPr lvl="0">
              <a:spcBef>
                <a:spcPts val="300"/>
              </a:spcBef>
              <a:spcAft>
                <a:spcPts val="300"/>
              </a:spcAft>
              <a:buSzPts val="2400"/>
            </a:pPr>
            <a:r>
              <a:rPr lang="en-US" sz="1800" b="1" dirty="0"/>
              <a:t>Interaction Features:</a:t>
            </a:r>
          </a:p>
          <a:p>
            <a:pPr marL="457200" lvl="0" indent="-381000">
              <a:spcBef>
                <a:spcPts val="300"/>
              </a:spcBef>
              <a:spcAft>
                <a:spcPts val="300"/>
              </a:spcAft>
              <a:buSzPct val="100000"/>
              <a:buFont typeface="Arial"/>
              <a:buChar char="●"/>
            </a:pPr>
            <a:r>
              <a:rPr lang="en-US" sz="1800" dirty="0"/>
              <a:t>Combining multiple variables (e.g., income * age) to capture interaction effects</a:t>
            </a:r>
            <a:r>
              <a:rPr lang="en-US" sz="1800" dirty="0" smtClean="0"/>
              <a:t>.</a:t>
            </a:r>
            <a:endParaRPr lang="en-US" sz="1800" dirty="0"/>
          </a:p>
          <a:p>
            <a:pPr lvl="0">
              <a:spcBef>
                <a:spcPts val="300"/>
              </a:spcBef>
              <a:spcAft>
                <a:spcPts val="300"/>
              </a:spcAft>
              <a:buSzPts val="2400"/>
            </a:pPr>
            <a:r>
              <a:rPr lang="en-US" sz="1800" b="1" dirty="0"/>
              <a:t>Polynomial Features</a:t>
            </a:r>
          </a:p>
          <a:p>
            <a:pPr marL="457200" lvl="0" indent="-381000">
              <a:spcBef>
                <a:spcPts val="300"/>
              </a:spcBef>
              <a:spcAft>
                <a:spcPts val="300"/>
              </a:spcAft>
              <a:buSzPct val="100000"/>
              <a:buFont typeface="Arial"/>
              <a:buChar char="●"/>
            </a:pPr>
            <a:r>
              <a:rPr lang="en-US" sz="1800" dirty="0"/>
              <a:t>Expanding variables to higher-order terms to model nonlinear relationships.</a:t>
            </a:r>
            <a:endParaRPr lang="en-US" sz="1800" dirty="0"/>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787550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Construction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lvl="0">
              <a:lnSpc>
                <a:spcPct val="90000"/>
              </a:lnSpc>
              <a:spcBef>
                <a:spcPts val="1000"/>
              </a:spcBef>
              <a:buClr>
                <a:schemeClr val="dk1"/>
              </a:buClr>
              <a:buSzPts val="2400"/>
            </a:pPr>
            <a:r>
              <a:rPr lang="en-US" sz="1800" b="1" dirty="0">
                <a:solidFill>
                  <a:schemeClr val="dk1"/>
                </a:solidFill>
              </a:rPr>
              <a:t>Examples</a:t>
            </a:r>
            <a:r>
              <a:rPr lang="en-US" sz="1800" dirty="0">
                <a:solidFill>
                  <a:schemeClr val="dk1"/>
                </a:solidFill>
              </a:rPr>
              <a:t> - Ratio-Based and </a:t>
            </a:r>
            <a:r>
              <a:rPr lang="en-US" sz="1800" dirty="0" err="1">
                <a:solidFill>
                  <a:schemeClr val="dk1"/>
                </a:solidFill>
              </a:rPr>
              <a:t>Datetime</a:t>
            </a:r>
            <a:r>
              <a:rPr lang="en-US" sz="1800" dirty="0">
                <a:solidFill>
                  <a:schemeClr val="dk1"/>
                </a:solidFill>
              </a:rPr>
              <a:t> Features</a:t>
            </a:r>
          </a:p>
          <a:p>
            <a:pPr lvl="0">
              <a:lnSpc>
                <a:spcPct val="90000"/>
              </a:lnSpc>
              <a:spcBef>
                <a:spcPts val="1000"/>
              </a:spcBef>
              <a:buClr>
                <a:schemeClr val="dk1"/>
              </a:buClr>
              <a:buSzPts val="2400"/>
            </a:pPr>
            <a:r>
              <a:rPr lang="en-US" sz="1800" b="1" dirty="0">
                <a:solidFill>
                  <a:schemeClr val="dk1"/>
                </a:solidFill>
              </a:rPr>
              <a:t>Ratio-Based Features:</a:t>
            </a:r>
          </a:p>
          <a:p>
            <a:pPr marL="457200" lvl="0" indent="-381000">
              <a:lnSpc>
                <a:spcPct val="90000"/>
              </a:lnSpc>
              <a:buClr>
                <a:schemeClr val="dk1"/>
              </a:buClr>
              <a:buSzPct val="100000"/>
              <a:buFont typeface="Arial"/>
              <a:buChar char="●"/>
            </a:pPr>
            <a:r>
              <a:rPr lang="en-US" sz="1800" dirty="0" err="1">
                <a:solidFill>
                  <a:schemeClr val="dk1"/>
                </a:solidFill>
              </a:rPr>
              <a:t>price_per_unit</a:t>
            </a:r>
            <a:r>
              <a:rPr lang="en-US" sz="1800" dirty="0">
                <a:solidFill>
                  <a:schemeClr val="dk1"/>
                </a:solidFill>
              </a:rPr>
              <a:t> = </a:t>
            </a:r>
            <a:r>
              <a:rPr lang="en-US" sz="1800" dirty="0" err="1">
                <a:solidFill>
                  <a:schemeClr val="dk1"/>
                </a:solidFill>
              </a:rPr>
              <a:t>total_price</a:t>
            </a:r>
            <a:r>
              <a:rPr lang="en-US" sz="1800" dirty="0">
                <a:solidFill>
                  <a:schemeClr val="dk1"/>
                </a:solidFill>
              </a:rPr>
              <a:t> / quantity</a:t>
            </a:r>
          </a:p>
          <a:p>
            <a:pPr lvl="0">
              <a:lnSpc>
                <a:spcPct val="90000"/>
              </a:lnSpc>
              <a:buSzPts val="2400"/>
            </a:pPr>
            <a:endParaRPr lang="en-US" sz="1800" dirty="0">
              <a:solidFill>
                <a:schemeClr val="dk1"/>
              </a:solidFill>
            </a:endParaRPr>
          </a:p>
          <a:p>
            <a:pPr lvl="0">
              <a:lnSpc>
                <a:spcPct val="90000"/>
              </a:lnSpc>
              <a:buSzPts val="2400"/>
            </a:pPr>
            <a:r>
              <a:rPr lang="en-US" sz="1800" b="1" dirty="0" err="1">
                <a:solidFill>
                  <a:schemeClr val="dk1"/>
                </a:solidFill>
              </a:rPr>
              <a:t>Datetime</a:t>
            </a:r>
            <a:r>
              <a:rPr lang="en-US" sz="1800" b="1" dirty="0">
                <a:solidFill>
                  <a:schemeClr val="dk1"/>
                </a:solidFill>
              </a:rPr>
              <a:t> Features:</a:t>
            </a:r>
          </a:p>
          <a:p>
            <a:pPr marL="457200" lvl="0" indent="-381000">
              <a:lnSpc>
                <a:spcPct val="90000"/>
              </a:lnSpc>
              <a:buClr>
                <a:schemeClr val="dk1"/>
              </a:buClr>
              <a:buSzPct val="100000"/>
              <a:buFont typeface="Arial"/>
              <a:buChar char="●"/>
            </a:pPr>
            <a:r>
              <a:rPr lang="en-US" sz="1800" dirty="0">
                <a:solidFill>
                  <a:schemeClr val="dk1"/>
                </a:solidFill>
              </a:rPr>
              <a:t>Deriving</a:t>
            </a:r>
          </a:p>
          <a:p>
            <a:pPr marL="457200" lvl="0" indent="-381000">
              <a:lnSpc>
                <a:spcPct val="90000"/>
              </a:lnSpc>
              <a:buClr>
                <a:schemeClr val="dk1"/>
              </a:buClr>
              <a:buSzPct val="100000"/>
              <a:buFont typeface="Arial"/>
              <a:buChar char="●"/>
            </a:pPr>
            <a:r>
              <a:rPr lang="en-US" sz="1800" dirty="0" err="1">
                <a:solidFill>
                  <a:schemeClr val="dk1"/>
                </a:solidFill>
              </a:rPr>
              <a:t>day_of_week</a:t>
            </a:r>
            <a:r>
              <a:rPr lang="en-US" sz="1800" dirty="0">
                <a:solidFill>
                  <a:schemeClr val="dk1"/>
                </a:solidFill>
              </a:rPr>
              <a:t>, </a:t>
            </a:r>
            <a:r>
              <a:rPr lang="en-US" sz="1800" dirty="0" err="1">
                <a:solidFill>
                  <a:schemeClr val="dk1"/>
                </a:solidFill>
              </a:rPr>
              <a:t>is_weekend</a:t>
            </a:r>
            <a:r>
              <a:rPr lang="en-US" sz="1800" dirty="0">
                <a:solidFill>
                  <a:schemeClr val="dk1"/>
                </a:solidFill>
              </a:rPr>
              <a:t>, month, or </a:t>
            </a:r>
            <a:r>
              <a:rPr lang="en-US" sz="1800" dirty="0" err="1">
                <a:solidFill>
                  <a:schemeClr val="dk1"/>
                </a:solidFill>
              </a:rPr>
              <a:t>holiday_flag</a:t>
            </a:r>
            <a:r>
              <a:rPr lang="en-US" sz="1800" dirty="0">
                <a:solidFill>
                  <a:schemeClr val="dk1"/>
                </a:solidFill>
              </a:rPr>
              <a:t> from timestamps</a:t>
            </a:r>
            <a:endParaRPr lang="en-US" sz="1800" dirty="0">
              <a:solidFill>
                <a:schemeClr val="dk1"/>
              </a:solidFil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074918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Construction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lvl="0">
              <a:spcBef>
                <a:spcPts val="300"/>
              </a:spcBef>
              <a:spcAft>
                <a:spcPts val="300"/>
              </a:spcAft>
              <a:buSzPts val="2400"/>
            </a:pPr>
            <a:r>
              <a:rPr lang="en-US" sz="1800" b="1" dirty="0"/>
              <a:t>Examples</a:t>
            </a:r>
            <a:r>
              <a:rPr lang="en-US" sz="1800" dirty="0"/>
              <a:t> - Aggregated </a:t>
            </a:r>
            <a:r>
              <a:rPr lang="en-US" sz="1800" dirty="0" smtClean="0"/>
              <a:t>Features</a:t>
            </a:r>
            <a:endParaRPr lang="en-US" sz="1800" dirty="0"/>
          </a:p>
          <a:p>
            <a:pPr lvl="0">
              <a:spcBef>
                <a:spcPts val="300"/>
              </a:spcBef>
              <a:spcAft>
                <a:spcPts val="300"/>
              </a:spcAft>
              <a:buSzPts val="2400"/>
            </a:pPr>
            <a:r>
              <a:rPr lang="en-US" sz="1800" b="1" dirty="0"/>
              <a:t>Aggregated Features:</a:t>
            </a:r>
          </a:p>
          <a:p>
            <a:pPr marL="457200" lvl="0" indent="-381000">
              <a:spcBef>
                <a:spcPts val="300"/>
              </a:spcBef>
              <a:spcAft>
                <a:spcPts val="300"/>
              </a:spcAft>
              <a:buSzPct val="100000"/>
              <a:buFont typeface="Arial"/>
              <a:buChar char="●"/>
            </a:pPr>
            <a:r>
              <a:rPr lang="en-US" sz="1800" dirty="0"/>
              <a:t>For user-level behavior: mean purchase frequency per user, session duration, or </a:t>
            </a:r>
            <a:r>
              <a:rPr lang="en-US" sz="1800" dirty="0" err="1"/>
              <a:t>recency</a:t>
            </a:r>
            <a:r>
              <a:rPr lang="en-US" sz="1800" dirty="0"/>
              <a:t> metrics in churn analysis.</a:t>
            </a:r>
            <a:endParaRPr lang="en-US" sz="1800" dirty="0"/>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560210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Construction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lvl="0">
              <a:spcBef>
                <a:spcPts val="300"/>
              </a:spcBef>
              <a:spcAft>
                <a:spcPts val="300"/>
              </a:spcAft>
              <a:buClr>
                <a:schemeClr val="dk1"/>
              </a:buClr>
              <a:buSzPts val="1860"/>
            </a:pPr>
            <a:r>
              <a:rPr lang="en-US" sz="1800" b="1" dirty="0">
                <a:solidFill>
                  <a:schemeClr val="dk1"/>
                </a:solidFill>
              </a:rPr>
              <a:t>When to </a:t>
            </a:r>
            <a:r>
              <a:rPr lang="en-US" sz="1800" b="1" dirty="0" smtClean="0">
                <a:solidFill>
                  <a:schemeClr val="dk1"/>
                </a:solidFill>
              </a:rPr>
              <a:t>Use</a:t>
            </a:r>
            <a:endParaRPr lang="en-US" sz="1800" b="1" dirty="0">
              <a:solidFill>
                <a:schemeClr val="dk1"/>
              </a:solidFill>
            </a:endParaRPr>
          </a:p>
          <a:p>
            <a:pPr marL="457200" lvl="0" indent="-381000">
              <a:spcBef>
                <a:spcPts val="300"/>
              </a:spcBef>
              <a:spcAft>
                <a:spcPts val="300"/>
              </a:spcAft>
              <a:buClr>
                <a:schemeClr val="dk1"/>
              </a:buClr>
              <a:buSzPct val="100000"/>
              <a:buFont typeface="Arial"/>
              <a:buChar char="●"/>
            </a:pPr>
            <a:r>
              <a:rPr lang="en-US" sz="1800" dirty="0">
                <a:solidFill>
                  <a:schemeClr val="dk1"/>
                </a:solidFill>
              </a:rPr>
              <a:t>When existing feature space is insufficient to capture complex patterns.</a:t>
            </a:r>
          </a:p>
          <a:p>
            <a:pPr marL="457200" lvl="0" indent="-381000">
              <a:spcBef>
                <a:spcPts val="300"/>
              </a:spcBef>
              <a:spcAft>
                <a:spcPts val="300"/>
              </a:spcAft>
              <a:buClr>
                <a:schemeClr val="dk1"/>
              </a:buClr>
              <a:buSzPct val="100000"/>
              <a:buFont typeface="Arial"/>
              <a:buChar char="●"/>
            </a:pPr>
            <a:r>
              <a:rPr lang="en-US" sz="1800" dirty="0">
                <a:solidFill>
                  <a:schemeClr val="dk1"/>
                </a:solidFill>
              </a:rPr>
              <a:t>Especially effective in tabular datasets where algorithms may not automatically learn interactions.</a:t>
            </a:r>
            <a:endParaRPr lang="en-US" sz="1800" dirty="0">
              <a:solidFill>
                <a:schemeClr val="dk1"/>
              </a:solidFil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449246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Construction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lvl="0">
              <a:spcBef>
                <a:spcPts val="300"/>
              </a:spcBef>
              <a:spcAft>
                <a:spcPts val="300"/>
              </a:spcAft>
              <a:buClr>
                <a:schemeClr val="dk1"/>
              </a:buClr>
              <a:buSzPts val="1860"/>
            </a:pPr>
            <a:r>
              <a:rPr lang="en-US" sz="1800" dirty="0">
                <a:solidFill>
                  <a:schemeClr val="dk1"/>
                </a:solidFill>
              </a:rPr>
              <a:t>Feature selection is the process of identifying and retaining the most informative, relevant, and non-redundant features, while eliminating irrelevant or noisy variables.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4142500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Construction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marL="457200" lvl="0" indent="-381000">
              <a:spcBef>
                <a:spcPts val="300"/>
              </a:spcBef>
              <a:spcAft>
                <a:spcPts val="300"/>
              </a:spcAft>
              <a:buClr>
                <a:schemeClr val="dk1"/>
              </a:buClr>
              <a:buSzPct val="100000"/>
              <a:buFont typeface="Arial"/>
              <a:buChar char="●"/>
            </a:pPr>
            <a:r>
              <a:rPr lang="en-US" sz="1800" dirty="0">
                <a:solidFill>
                  <a:schemeClr val="dk1"/>
                </a:solidFill>
              </a:rPr>
              <a:t>Aims to improve </a:t>
            </a:r>
            <a:r>
              <a:rPr lang="en-US" sz="1800" dirty="0" err="1" smtClean="0">
                <a:solidFill>
                  <a:schemeClr val="dk1"/>
                </a:solidFill>
              </a:rPr>
              <a:t>generalisation</a:t>
            </a:r>
            <a:r>
              <a:rPr lang="en-US" sz="1800" dirty="0">
                <a:solidFill>
                  <a:schemeClr val="dk1"/>
                </a:solidFill>
              </a:rPr>
              <a:t>, reduce </a:t>
            </a:r>
            <a:r>
              <a:rPr lang="en-US" sz="1800" dirty="0" err="1">
                <a:solidFill>
                  <a:schemeClr val="dk1"/>
                </a:solidFill>
              </a:rPr>
              <a:t>overfitting</a:t>
            </a:r>
            <a:r>
              <a:rPr lang="en-US" sz="1800" dirty="0">
                <a:solidFill>
                  <a:schemeClr val="dk1"/>
                </a:solidFill>
              </a:rPr>
              <a:t>, and enhance model interpretability.</a:t>
            </a:r>
          </a:p>
          <a:p>
            <a:pPr marL="457200" lvl="0" indent="-381000">
              <a:spcBef>
                <a:spcPts val="300"/>
              </a:spcBef>
              <a:spcAft>
                <a:spcPts val="300"/>
              </a:spcAft>
              <a:buClr>
                <a:schemeClr val="dk1"/>
              </a:buClr>
              <a:buSzPct val="100000"/>
              <a:buFont typeface="Arial"/>
              <a:buChar char="●"/>
            </a:pPr>
            <a:r>
              <a:rPr lang="en-US" sz="1800" dirty="0">
                <a:solidFill>
                  <a:schemeClr val="dk1"/>
                </a:solidFill>
              </a:rPr>
              <a:t>Can be model-agnostic (filter) or model-dependent (wrapper/embedded).</a:t>
            </a:r>
            <a:endParaRPr lang="en-US" sz="1800" dirty="0">
              <a:solidFill>
                <a:schemeClr val="dk1"/>
              </a:solidFil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285151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Construction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marL="76200" lvl="0">
              <a:spcBef>
                <a:spcPts val="300"/>
              </a:spcBef>
              <a:spcAft>
                <a:spcPts val="300"/>
              </a:spcAft>
              <a:buClr>
                <a:schemeClr val="dk1"/>
              </a:buClr>
              <a:buSzPct val="100000"/>
            </a:pPr>
            <a:r>
              <a:rPr lang="en-US" sz="1800" dirty="0">
                <a:solidFill>
                  <a:schemeClr val="dk1"/>
                </a:solidFill>
              </a:rPr>
              <a:t>Types of Feature Selection Methods - Filter Methods</a:t>
            </a:r>
          </a:p>
          <a:p>
            <a:pPr marL="569913" lvl="0" indent="-225425">
              <a:spcBef>
                <a:spcPts val="300"/>
              </a:spcBef>
              <a:spcAft>
                <a:spcPts val="300"/>
              </a:spcAft>
              <a:buClr>
                <a:schemeClr val="dk1"/>
              </a:buClr>
              <a:buSzPct val="100000"/>
              <a:buFont typeface="Arial"/>
              <a:buChar char="●"/>
            </a:pPr>
            <a:r>
              <a:rPr lang="en-US" sz="1800" dirty="0">
                <a:solidFill>
                  <a:schemeClr val="dk1"/>
                </a:solidFill>
              </a:rPr>
              <a:t>Assess feature relevance using statistical scores.</a:t>
            </a:r>
          </a:p>
          <a:p>
            <a:pPr marL="569913" lvl="0" indent="-225425">
              <a:spcBef>
                <a:spcPts val="300"/>
              </a:spcBef>
              <a:spcAft>
                <a:spcPts val="300"/>
              </a:spcAft>
              <a:buClr>
                <a:schemeClr val="dk1"/>
              </a:buClr>
              <a:buSzPct val="100000"/>
              <a:buFont typeface="Arial"/>
              <a:buChar char="●"/>
            </a:pPr>
            <a:r>
              <a:rPr lang="en-US" sz="1800" dirty="0">
                <a:solidFill>
                  <a:schemeClr val="dk1"/>
                </a:solidFill>
              </a:rPr>
              <a:t>Independent of any learning algorithm.</a:t>
            </a:r>
          </a:p>
          <a:p>
            <a:pPr marL="569913" lvl="0" indent="-225425">
              <a:spcBef>
                <a:spcPts val="300"/>
              </a:spcBef>
              <a:spcAft>
                <a:spcPts val="300"/>
              </a:spcAft>
              <a:buClr>
                <a:schemeClr val="dk1"/>
              </a:buClr>
              <a:buSzPct val="100000"/>
              <a:buFont typeface="Arial"/>
              <a:buChar char="●"/>
            </a:pPr>
            <a:r>
              <a:rPr lang="en-US" sz="1800" dirty="0">
                <a:solidFill>
                  <a:schemeClr val="dk1"/>
                </a:solidFill>
              </a:rPr>
              <a:t>Computationally efficient.</a:t>
            </a:r>
          </a:p>
          <a:p>
            <a:pPr marL="569913" lvl="0" indent="-225425">
              <a:spcBef>
                <a:spcPts val="300"/>
              </a:spcBef>
              <a:spcAft>
                <a:spcPts val="300"/>
              </a:spcAft>
              <a:buClr>
                <a:schemeClr val="dk1"/>
              </a:buClr>
              <a:buSzPct val="100000"/>
              <a:buFont typeface="Arial"/>
              <a:buChar char="●"/>
            </a:pPr>
            <a:r>
              <a:rPr lang="en-US" sz="1800" dirty="0">
                <a:solidFill>
                  <a:schemeClr val="dk1"/>
                </a:solidFill>
              </a:rPr>
              <a:t>Suitable for high-dimensional datasets.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521981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rial Narrow"/>
                <a:ea typeface="Arial Narrow"/>
                <a:cs typeface="Arial Narrow"/>
                <a:sym typeface="Arial Narrow"/>
              </a:rPr>
              <a:t>Feature Construction</a:t>
            </a:r>
            <a:endParaRPr sz="4400" b="1" i="0" u="none" strike="noStrike" cap="none">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smtClean="0">
                <a:solidFill>
                  <a:schemeClr val="dk1"/>
                </a:solidFill>
              </a:rPr>
              <a:t>Filter </a:t>
            </a:r>
            <a:r>
              <a:rPr lang="en-US" sz="1800" dirty="0">
                <a:solidFill>
                  <a:schemeClr val="dk1"/>
                </a:solidFill>
              </a:rPr>
              <a:t>Methods - Pearson’s Correlation </a:t>
            </a:r>
            <a:r>
              <a:rPr lang="en-US" sz="1800" dirty="0" smtClean="0">
                <a:solidFill>
                  <a:schemeClr val="dk1"/>
                </a:solidFill>
              </a:rPr>
              <a:t>Coefficient</a:t>
            </a:r>
            <a:endParaRPr lang="en-US" sz="1800" dirty="0">
              <a:solidFill>
                <a:schemeClr val="dk1"/>
              </a:solidFill>
            </a:endParaRPr>
          </a:p>
          <a:p>
            <a:pPr marL="742950" lvl="0" indent="-227013">
              <a:spcBef>
                <a:spcPts val="300"/>
              </a:spcBef>
              <a:spcAft>
                <a:spcPts val="300"/>
              </a:spcAft>
              <a:buClr>
                <a:schemeClr val="dk1"/>
              </a:buClr>
              <a:buSzPct val="100000"/>
              <a:buFont typeface="Arial"/>
              <a:buChar char="●"/>
            </a:pPr>
            <a:r>
              <a:rPr lang="en-US" sz="1800" dirty="0">
                <a:solidFill>
                  <a:schemeClr val="dk1"/>
                </a:solidFill>
              </a:rPr>
              <a:t>Measures linear dependence between two continuous variables.</a:t>
            </a:r>
          </a:p>
          <a:p>
            <a:pPr marL="742950" lvl="0" indent="-227013">
              <a:spcBef>
                <a:spcPts val="300"/>
              </a:spcBef>
              <a:spcAft>
                <a:spcPts val="300"/>
              </a:spcAft>
              <a:buClr>
                <a:schemeClr val="dk1"/>
              </a:buClr>
              <a:buSzPct val="100000"/>
              <a:buFont typeface="Arial"/>
              <a:buChar char="●"/>
            </a:pPr>
            <a:r>
              <a:rPr lang="en-US" sz="1800" dirty="0">
                <a:solidFill>
                  <a:schemeClr val="dk1"/>
                </a:solidFill>
              </a:rPr>
              <a:t>Values close to +1/-1 imply strong positive/negative correlation; 0 implies no linear correlation.</a:t>
            </a:r>
          </a:p>
          <a:p>
            <a:pPr marL="742950" lvl="0" indent="-227013">
              <a:spcBef>
                <a:spcPts val="300"/>
              </a:spcBef>
              <a:spcAft>
                <a:spcPts val="300"/>
              </a:spcAft>
              <a:buClr>
                <a:schemeClr val="dk1"/>
              </a:buClr>
              <a:buSzPct val="100000"/>
              <a:buFont typeface="Arial"/>
              <a:buChar char="●"/>
            </a:pPr>
            <a:r>
              <a:rPr lang="en-US" sz="1800" dirty="0">
                <a:solidFill>
                  <a:schemeClr val="dk1"/>
                </a:solidFill>
              </a:rPr>
              <a:t>Limitation: Only captures linear relationships; affected by outliers and assumes normality.</a:t>
            </a:r>
          </a:p>
          <a:p>
            <a:pPr marL="742950" lvl="0" indent="-227013">
              <a:spcBef>
                <a:spcPts val="300"/>
              </a:spcBef>
              <a:spcAft>
                <a:spcPts val="300"/>
              </a:spcAft>
              <a:buClr>
                <a:schemeClr val="dk1"/>
              </a:buClr>
              <a:buSzPct val="100000"/>
              <a:buFont typeface="Arial"/>
              <a:buChar char="●"/>
            </a:pPr>
            <a:r>
              <a:rPr lang="en-US" sz="1800" dirty="0">
                <a:solidFill>
                  <a:schemeClr val="dk1"/>
                </a:solidFill>
              </a:rPr>
              <a:t>Example: Feature "height" and target "weight" often have high positive correlation.</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745825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smtClean="0">
                <a:solidFill>
                  <a:schemeClr val="dk1"/>
                </a:solidFill>
              </a:rPr>
              <a:t>Filter </a:t>
            </a:r>
            <a:r>
              <a:rPr lang="en-US" sz="1800" dirty="0">
                <a:solidFill>
                  <a:schemeClr val="dk1"/>
                </a:solidFill>
              </a:rPr>
              <a:t>Methods - Spearman’s Rank </a:t>
            </a:r>
            <a:r>
              <a:rPr lang="en-US" sz="1800" dirty="0" smtClean="0">
                <a:solidFill>
                  <a:schemeClr val="dk1"/>
                </a:solidFill>
              </a:rPr>
              <a:t>Correlation</a:t>
            </a:r>
            <a:endParaRPr lang="en-US" sz="1800" dirty="0">
              <a:solidFill>
                <a:schemeClr val="dk1"/>
              </a:solidFill>
            </a:endParaRPr>
          </a:p>
          <a:p>
            <a:pPr marL="742950" lvl="0" indent="-227013">
              <a:spcBef>
                <a:spcPts val="300"/>
              </a:spcBef>
              <a:spcAft>
                <a:spcPts val="300"/>
              </a:spcAft>
              <a:buClr>
                <a:schemeClr val="dk1"/>
              </a:buClr>
              <a:buSzPct val="100000"/>
              <a:buFont typeface="Arial"/>
              <a:buChar char="●"/>
            </a:pPr>
            <a:r>
              <a:rPr lang="en-US" sz="1800" dirty="0">
                <a:solidFill>
                  <a:schemeClr val="dk1"/>
                </a:solidFill>
              </a:rPr>
              <a:t>Non-parametric measure of monotonic relationships based on rank.</a:t>
            </a:r>
          </a:p>
          <a:p>
            <a:pPr marL="742950" lvl="0" indent="-227013">
              <a:spcBef>
                <a:spcPts val="300"/>
              </a:spcBef>
              <a:spcAft>
                <a:spcPts val="300"/>
              </a:spcAft>
              <a:buClr>
                <a:schemeClr val="dk1"/>
              </a:buClr>
              <a:buSzPct val="100000"/>
              <a:buFont typeface="Arial"/>
              <a:buChar char="●"/>
            </a:pPr>
            <a:r>
              <a:rPr lang="en-US" sz="1800" dirty="0">
                <a:solidFill>
                  <a:schemeClr val="dk1"/>
                </a:solidFill>
              </a:rPr>
              <a:t>Robust to outliers and nonlinear relationships (e.g., logarithmic or exponential). </a:t>
            </a:r>
          </a:p>
          <a:p>
            <a:pPr marL="742950" lvl="0" indent="-227013">
              <a:spcBef>
                <a:spcPts val="300"/>
              </a:spcBef>
              <a:spcAft>
                <a:spcPts val="300"/>
              </a:spcAft>
              <a:buClr>
                <a:schemeClr val="dk1"/>
              </a:buClr>
              <a:buSzPct val="100000"/>
              <a:buFont typeface="Arial"/>
              <a:buChar char="●"/>
            </a:pPr>
            <a:r>
              <a:rPr lang="en-US" sz="1800" dirty="0">
                <a:solidFill>
                  <a:schemeClr val="dk1"/>
                </a:solidFill>
              </a:rPr>
              <a:t>Useful when variables are ordinal or not normally distributed. </a:t>
            </a:r>
          </a:p>
          <a:p>
            <a:pPr marL="742950" lvl="0" indent="-227013">
              <a:spcBef>
                <a:spcPts val="300"/>
              </a:spcBef>
              <a:spcAft>
                <a:spcPts val="300"/>
              </a:spcAft>
              <a:buClr>
                <a:schemeClr val="dk1"/>
              </a:buClr>
              <a:buSzPct val="100000"/>
              <a:buFont typeface="Arial"/>
              <a:buChar char="●"/>
            </a:pPr>
            <a:r>
              <a:rPr lang="en-US" sz="1800" dirty="0">
                <a:solidFill>
                  <a:schemeClr val="dk1"/>
                </a:solidFill>
              </a:rPr>
              <a:t>Example: Customer satisfaction score (ordinal) and purchase frequency.</a:t>
            </a:r>
          </a:p>
          <a:p>
            <a:pPr marL="742950" lvl="0" indent="-227013">
              <a:spcBef>
                <a:spcPts val="300"/>
              </a:spcBef>
              <a:spcAft>
                <a:spcPts val="300"/>
              </a:spcAft>
              <a:buClr>
                <a:schemeClr val="dk1"/>
              </a:buClr>
              <a:buSzPct val="100000"/>
              <a:buFont typeface="Arial"/>
              <a:buChar char="●"/>
            </a:pPr>
            <a:endParaRPr lang="en-US" sz="1800" dirty="0">
              <a:solidFill>
                <a:schemeClr val="dk1"/>
              </a:solidFil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849811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Filter Methods - Chi-Square Test of Independence</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Applied </a:t>
            </a:r>
            <a:r>
              <a:rPr lang="en-US" sz="1800" dirty="0">
                <a:solidFill>
                  <a:schemeClr val="dk1"/>
                </a:solidFill>
              </a:rPr>
              <a:t>to categorical variables.</a:t>
            </a:r>
          </a:p>
          <a:p>
            <a:pPr marL="742950" lvl="0" indent="-227013">
              <a:spcBef>
                <a:spcPts val="300"/>
              </a:spcBef>
              <a:spcAft>
                <a:spcPts val="300"/>
              </a:spcAft>
              <a:buClr>
                <a:schemeClr val="dk1"/>
              </a:buClr>
              <a:buSzPct val="100000"/>
              <a:buFont typeface="Arial"/>
              <a:buChar char="●"/>
            </a:pPr>
            <a:r>
              <a:rPr lang="en-US" sz="1800" dirty="0">
                <a:solidFill>
                  <a:schemeClr val="dk1"/>
                </a:solidFill>
              </a:rPr>
              <a:t>Tests whether distributions of categorical values differ significantly from expected frequencies.</a:t>
            </a:r>
          </a:p>
          <a:p>
            <a:pPr marL="742950" lvl="0" indent="-227013">
              <a:spcBef>
                <a:spcPts val="300"/>
              </a:spcBef>
              <a:spcAft>
                <a:spcPts val="300"/>
              </a:spcAft>
              <a:buClr>
                <a:schemeClr val="dk1"/>
              </a:buClr>
              <a:buSzPct val="100000"/>
              <a:buFont typeface="Arial"/>
              <a:buChar char="●"/>
            </a:pPr>
            <a:r>
              <a:rPr lang="en-US" sz="1800" dirty="0">
                <a:solidFill>
                  <a:schemeClr val="dk1"/>
                </a:solidFill>
              </a:rPr>
              <a:t>High chi-square statistic suggests feature and target are not independent (thus predictive)</a:t>
            </a:r>
          </a:p>
          <a:p>
            <a:pPr marL="742950" lvl="0" indent="-227013">
              <a:spcBef>
                <a:spcPts val="300"/>
              </a:spcBef>
              <a:spcAft>
                <a:spcPts val="300"/>
              </a:spcAft>
              <a:buClr>
                <a:schemeClr val="dk1"/>
              </a:buClr>
              <a:buSzPct val="100000"/>
              <a:buFont typeface="Arial"/>
              <a:buChar char="●"/>
            </a:pPr>
            <a:r>
              <a:rPr lang="en-US" sz="1800" dirty="0">
                <a:solidFill>
                  <a:schemeClr val="dk1"/>
                </a:solidFill>
              </a:rPr>
              <a:t>Example: Testing whether gender is associated with likelihood of loan approval.</a:t>
            </a:r>
          </a:p>
          <a:p>
            <a:pPr marL="742950" lvl="0" indent="-227013">
              <a:spcBef>
                <a:spcPts val="300"/>
              </a:spcBef>
              <a:spcAft>
                <a:spcPts val="300"/>
              </a:spcAft>
              <a:buClr>
                <a:schemeClr val="dk1"/>
              </a:buClr>
              <a:buSzPct val="100000"/>
              <a:buFont typeface="Arial"/>
              <a:buChar char="●"/>
            </a:pPr>
            <a:endParaRPr lang="en-US" sz="1800" dirty="0">
              <a:solidFill>
                <a:schemeClr val="dk1"/>
              </a:solidFil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835600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Filter Methods - Information Theoretic Measures (Mutual Information):</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Mutual </a:t>
            </a:r>
            <a:r>
              <a:rPr lang="en-US" sz="1800" dirty="0">
                <a:solidFill>
                  <a:schemeClr val="dk1"/>
                </a:solidFill>
              </a:rPr>
              <a:t>Information (MI): Measures reduction in uncertainty about target given a feature.</a:t>
            </a:r>
          </a:p>
          <a:p>
            <a:pPr marL="742950" lvl="0" indent="-227013">
              <a:spcBef>
                <a:spcPts val="300"/>
              </a:spcBef>
              <a:spcAft>
                <a:spcPts val="300"/>
              </a:spcAft>
              <a:buClr>
                <a:schemeClr val="dk1"/>
              </a:buClr>
              <a:buSzPct val="100000"/>
              <a:buFont typeface="Arial"/>
              <a:buChar char="●"/>
            </a:pPr>
            <a:r>
              <a:rPr lang="en-US" sz="1800" dirty="0">
                <a:solidFill>
                  <a:schemeClr val="dk1"/>
                </a:solidFill>
              </a:rPr>
              <a:t>Works for both categorical and continuous variables using entropy-based criteria. </a:t>
            </a:r>
          </a:p>
          <a:p>
            <a:pPr marL="742950" lvl="0" indent="-227013">
              <a:spcBef>
                <a:spcPts val="300"/>
              </a:spcBef>
              <a:spcAft>
                <a:spcPts val="300"/>
              </a:spcAft>
              <a:buClr>
                <a:schemeClr val="dk1"/>
              </a:buClr>
              <a:buSzPct val="100000"/>
              <a:buFont typeface="Arial"/>
              <a:buChar char="●"/>
            </a:pPr>
            <a:r>
              <a:rPr lang="en-US" sz="1800" dirty="0">
                <a:solidFill>
                  <a:schemeClr val="dk1"/>
                </a:solidFill>
              </a:rPr>
              <a:t>Captures non-linear dependencies. </a:t>
            </a:r>
          </a:p>
          <a:p>
            <a:pPr marL="742950" lvl="0" indent="-227013">
              <a:spcBef>
                <a:spcPts val="300"/>
              </a:spcBef>
              <a:spcAft>
                <a:spcPts val="300"/>
              </a:spcAft>
              <a:buClr>
                <a:schemeClr val="dk1"/>
              </a:buClr>
              <a:buSzPct val="100000"/>
              <a:buFont typeface="Arial"/>
              <a:buChar char="●"/>
            </a:pPr>
            <a:r>
              <a:rPr lang="en-US" sz="1800" dirty="0">
                <a:solidFill>
                  <a:schemeClr val="dk1"/>
                </a:solidFill>
              </a:rPr>
              <a:t>Example: MI between "transaction type" and "fraud label" in fraud detection.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760504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Filter Methods - Fisher Score:</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Supervised </a:t>
            </a:r>
            <a:r>
              <a:rPr lang="en-US" sz="1800" dirty="0">
                <a:solidFill>
                  <a:schemeClr val="dk1"/>
                </a:solidFill>
              </a:rPr>
              <a:t>filter method. </a:t>
            </a:r>
          </a:p>
          <a:p>
            <a:pPr marL="742950" lvl="0" indent="-227013">
              <a:spcBef>
                <a:spcPts val="300"/>
              </a:spcBef>
              <a:spcAft>
                <a:spcPts val="300"/>
              </a:spcAft>
              <a:buClr>
                <a:schemeClr val="dk1"/>
              </a:buClr>
              <a:buSzPct val="100000"/>
              <a:buFont typeface="Arial"/>
              <a:buChar char="●"/>
            </a:pPr>
            <a:r>
              <a:rPr lang="en-US" sz="1800" dirty="0">
                <a:solidFill>
                  <a:schemeClr val="dk1"/>
                </a:solidFill>
              </a:rPr>
              <a:t>Measures class </a:t>
            </a:r>
            <a:r>
              <a:rPr lang="en-US" sz="1800" dirty="0" err="1">
                <a:solidFill>
                  <a:schemeClr val="dk1"/>
                </a:solidFill>
              </a:rPr>
              <a:t>separability</a:t>
            </a:r>
            <a:r>
              <a:rPr lang="en-US" sz="1800" dirty="0">
                <a:solidFill>
                  <a:schemeClr val="dk1"/>
                </a:solidFill>
              </a:rPr>
              <a:t> by computing ratio of inter-class variance to intra-class variance. </a:t>
            </a:r>
          </a:p>
          <a:p>
            <a:pPr marL="742950" lvl="0" indent="-227013">
              <a:spcBef>
                <a:spcPts val="300"/>
              </a:spcBef>
              <a:spcAft>
                <a:spcPts val="300"/>
              </a:spcAft>
              <a:buClr>
                <a:schemeClr val="dk1"/>
              </a:buClr>
              <a:buSzPct val="100000"/>
              <a:buFont typeface="Arial"/>
              <a:buChar char="●"/>
            </a:pPr>
            <a:r>
              <a:rPr lang="en-US" sz="1800" dirty="0">
                <a:solidFill>
                  <a:schemeClr val="dk1"/>
                </a:solidFill>
              </a:rPr>
              <a:t>Features with high Fisher scores are better at distinguishing between classes. </a:t>
            </a:r>
          </a:p>
          <a:p>
            <a:pPr marL="742950" lvl="0" indent="-227013">
              <a:spcBef>
                <a:spcPts val="300"/>
              </a:spcBef>
              <a:spcAft>
                <a:spcPts val="300"/>
              </a:spcAft>
              <a:buClr>
                <a:schemeClr val="dk1"/>
              </a:buClr>
              <a:buSzPct val="100000"/>
              <a:buFont typeface="Arial"/>
              <a:buChar char="●"/>
            </a:pPr>
            <a:r>
              <a:rPr lang="en-US" sz="1800" dirty="0">
                <a:solidFill>
                  <a:schemeClr val="dk1"/>
                </a:solidFill>
              </a:rPr>
              <a:t>Example: Feature “</a:t>
            </a:r>
            <a:r>
              <a:rPr lang="en-US" sz="1800" dirty="0" err="1">
                <a:solidFill>
                  <a:schemeClr val="dk1"/>
                </a:solidFill>
              </a:rPr>
              <a:t>exam_score</a:t>
            </a:r>
            <a:r>
              <a:rPr lang="en-US" sz="1800" dirty="0">
                <a:solidFill>
                  <a:schemeClr val="dk1"/>
                </a:solidFill>
              </a:rPr>
              <a:t>” distinguishing between pass and fail.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174077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How to Choose the Right Filter Method?</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Continuous </a:t>
            </a:r>
            <a:r>
              <a:rPr lang="en-US" sz="1800" dirty="0">
                <a:solidFill>
                  <a:schemeClr val="dk1"/>
                </a:solidFill>
              </a:rPr>
              <a:t>↔ Continuous: Pearson, Spearman </a:t>
            </a:r>
          </a:p>
          <a:p>
            <a:pPr marL="742950" lvl="0" indent="-227013">
              <a:spcBef>
                <a:spcPts val="300"/>
              </a:spcBef>
              <a:spcAft>
                <a:spcPts val="300"/>
              </a:spcAft>
              <a:buClr>
                <a:schemeClr val="dk1"/>
              </a:buClr>
              <a:buSzPct val="100000"/>
              <a:buFont typeface="Arial"/>
              <a:buChar char="●"/>
            </a:pPr>
            <a:r>
              <a:rPr lang="en-US" sz="1800" dirty="0">
                <a:solidFill>
                  <a:schemeClr val="dk1"/>
                </a:solidFill>
              </a:rPr>
              <a:t>Ordinal ↔ Ordinal: Spearman </a:t>
            </a:r>
          </a:p>
          <a:p>
            <a:pPr marL="742950" lvl="0" indent="-227013">
              <a:spcBef>
                <a:spcPts val="300"/>
              </a:spcBef>
              <a:spcAft>
                <a:spcPts val="300"/>
              </a:spcAft>
              <a:buClr>
                <a:schemeClr val="dk1"/>
              </a:buClr>
              <a:buSzPct val="100000"/>
              <a:buFont typeface="Arial"/>
              <a:buChar char="●"/>
            </a:pPr>
            <a:r>
              <a:rPr lang="en-US" sz="1800" dirty="0">
                <a:solidFill>
                  <a:schemeClr val="dk1"/>
                </a:solidFill>
              </a:rPr>
              <a:t>Categorical ↔ Categorical: Chi-Square </a:t>
            </a:r>
          </a:p>
          <a:p>
            <a:pPr marL="742950" lvl="0" indent="-227013">
              <a:spcBef>
                <a:spcPts val="300"/>
              </a:spcBef>
              <a:spcAft>
                <a:spcPts val="300"/>
              </a:spcAft>
              <a:buClr>
                <a:schemeClr val="dk1"/>
              </a:buClr>
              <a:buSzPct val="100000"/>
              <a:buFont typeface="Arial"/>
              <a:buChar char="●"/>
            </a:pPr>
            <a:r>
              <a:rPr lang="en-US" sz="1800" dirty="0">
                <a:solidFill>
                  <a:schemeClr val="dk1"/>
                </a:solidFill>
              </a:rPr>
              <a:t>Categorical ↔ Continuous: ANOVA, Mutual Information </a:t>
            </a:r>
          </a:p>
          <a:p>
            <a:pPr marL="742950" lvl="0" indent="-227013">
              <a:spcBef>
                <a:spcPts val="300"/>
              </a:spcBef>
              <a:spcAft>
                <a:spcPts val="300"/>
              </a:spcAft>
              <a:buClr>
                <a:schemeClr val="dk1"/>
              </a:buClr>
              <a:buSzPct val="100000"/>
              <a:buFont typeface="Arial"/>
              <a:buChar char="●"/>
            </a:pPr>
            <a:r>
              <a:rPr lang="en-US" sz="1800" dirty="0">
                <a:solidFill>
                  <a:schemeClr val="dk1"/>
                </a:solidFill>
              </a:rPr>
              <a:t>Mixed types: Mutual Information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209399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Filter Methods - Additional Considerations:</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For </a:t>
            </a:r>
            <a:r>
              <a:rPr lang="en-US" sz="1800" dirty="0">
                <a:solidFill>
                  <a:schemeClr val="dk1"/>
                </a:solidFill>
              </a:rPr>
              <a:t>imbalanced data: information gain or </a:t>
            </a:r>
            <a:r>
              <a:rPr lang="en-US" sz="1800" dirty="0" err="1">
                <a:solidFill>
                  <a:schemeClr val="dk1"/>
                </a:solidFill>
              </a:rPr>
              <a:t>Gini</a:t>
            </a:r>
            <a:r>
              <a:rPr lang="en-US" sz="1800" dirty="0">
                <a:solidFill>
                  <a:schemeClr val="dk1"/>
                </a:solidFill>
              </a:rPr>
              <a:t> index may perform better than Chi-square. </a:t>
            </a:r>
          </a:p>
          <a:p>
            <a:pPr marL="742950" lvl="0" indent="-227013">
              <a:spcBef>
                <a:spcPts val="300"/>
              </a:spcBef>
              <a:spcAft>
                <a:spcPts val="300"/>
              </a:spcAft>
              <a:buClr>
                <a:schemeClr val="dk1"/>
              </a:buClr>
              <a:buSzPct val="100000"/>
              <a:buFont typeface="Arial"/>
              <a:buChar char="●"/>
            </a:pPr>
            <a:r>
              <a:rPr lang="en-US" sz="1800" dirty="0">
                <a:solidFill>
                  <a:schemeClr val="dk1"/>
                </a:solidFill>
              </a:rPr>
              <a:t>For high-dimensional gene expression data: Fisher Score or </a:t>
            </a:r>
            <a:r>
              <a:rPr lang="en-US" sz="1800" dirty="0" err="1">
                <a:solidFill>
                  <a:schemeClr val="dk1"/>
                </a:solidFill>
              </a:rPr>
              <a:t>ReliefF</a:t>
            </a:r>
            <a:r>
              <a:rPr lang="en-US" sz="1800" dirty="0">
                <a:solidFill>
                  <a:schemeClr val="dk1"/>
                </a:solidFill>
              </a:rPr>
              <a:t> are widely used.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932987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Wrapper Methods:</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Evaluate </a:t>
            </a:r>
            <a:r>
              <a:rPr lang="en-US" sz="1800" dirty="0">
                <a:solidFill>
                  <a:schemeClr val="dk1"/>
                </a:solidFill>
              </a:rPr>
              <a:t>feature subsets based on model performance. </a:t>
            </a:r>
          </a:p>
          <a:p>
            <a:pPr marL="742950" lvl="0" indent="-227013">
              <a:spcBef>
                <a:spcPts val="300"/>
              </a:spcBef>
              <a:spcAft>
                <a:spcPts val="300"/>
              </a:spcAft>
              <a:buClr>
                <a:schemeClr val="dk1"/>
              </a:buClr>
              <a:buSzPct val="100000"/>
              <a:buFont typeface="Arial"/>
              <a:buChar char="●"/>
            </a:pPr>
            <a:r>
              <a:rPr lang="en-US" sz="1800" dirty="0">
                <a:solidFill>
                  <a:schemeClr val="dk1"/>
                </a:solidFill>
              </a:rPr>
              <a:t>More computationally expensive. </a:t>
            </a:r>
          </a:p>
          <a:p>
            <a:pPr marL="742950" lvl="0" indent="-227013">
              <a:spcBef>
                <a:spcPts val="300"/>
              </a:spcBef>
              <a:spcAft>
                <a:spcPts val="300"/>
              </a:spcAft>
              <a:buClr>
                <a:schemeClr val="dk1"/>
              </a:buClr>
              <a:buSzPct val="100000"/>
              <a:buFont typeface="Arial"/>
              <a:buChar char="●"/>
            </a:pPr>
            <a:r>
              <a:rPr lang="en-US" sz="1800" dirty="0">
                <a:solidFill>
                  <a:schemeClr val="dk1"/>
                </a:solidFill>
              </a:rPr>
              <a:t>Often yield better-performing feature sets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980519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Wrapper Methods - Sequential Forward Selection (SFS):</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Starts </a:t>
            </a:r>
            <a:r>
              <a:rPr lang="en-US" sz="1800" dirty="0">
                <a:solidFill>
                  <a:schemeClr val="dk1"/>
                </a:solidFill>
              </a:rPr>
              <a:t>with an empty feature set. </a:t>
            </a:r>
          </a:p>
          <a:p>
            <a:pPr marL="742950" lvl="0" indent="-227013">
              <a:spcBef>
                <a:spcPts val="300"/>
              </a:spcBef>
              <a:spcAft>
                <a:spcPts val="300"/>
              </a:spcAft>
              <a:buClr>
                <a:schemeClr val="dk1"/>
              </a:buClr>
              <a:buSzPct val="100000"/>
              <a:buFont typeface="Arial"/>
              <a:buChar char="●"/>
            </a:pPr>
            <a:r>
              <a:rPr lang="en-US" sz="1800" dirty="0">
                <a:solidFill>
                  <a:schemeClr val="dk1"/>
                </a:solidFill>
              </a:rPr>
              <a:t>Adds one feature at a time that improves model performance the most. </a:t>
            </a:r>
          </a:p>
          <a:p>
            <a:pPr marL="742950" lvl="0" indent="-227013">
              <a:spcBef>
                <a:spcPts val="300"/>
              </a:spcBef>
              <a:spcAft>
                <a:spcPts val="300"/>
              </a:spcAft>
              <a:buClr>
                <a:schemeClr val="dk1"/>
              </a:buClr>
              <a:buSzPct val="100000"/>
              <a:buFont typeface="Arial"/>
              <a:buChar char="●"/>
            </a:pPr>
            <a:r>
              <a:rPr lang="en-US" sz="1800" dirty="0">
                <a:solidFill>
                  <a:schemeClr val="dk1"/>
                </a:solidFill>
              </a:rPr>
              <a:t>Stops when performance no longer improves.</a:t>
            </a:r>
          </a:p>
          <a:p>
            <a:pPr marL="742950" lvl="0" indent="-227013">
              <a:spcBef>
                <a:spcPts val="300"/>
              </a:spcBef>
              <a:spcAft>
                <a:spcPts val="300"/>
              </a:spcAft>
              <a:buClr>
                <a:schemeClr val="dk1"/>
              </a:buClr>
              <a:buSzPct val="100000"/>
              <a:buFont typeface="Arial"/>
              <a:buChar char="●"/>
            </a:pPr>
            <a:r>
              <a:rPr lang="en-US" sz="1800" dirty="0">
                <a:solidFill>
                  <a:schemeClr val="dk1"/>
                </a:solidFill>
              </a:rPr>
              <a:t>Example: In churn prediction, adding “</a:t>
            </a:r>
            <a:r>
              <a:rPr lang="en-US" sz="1800" dirty="0" err="1">
                <a:solidFill>
                  <a:schemeClr val="dk1"/>
                </a:solidFill>
              </a:rPr>
              <a:t>recency</a:t>
            </a:r>
            <a:r>
              <a:rPr lang="en-US" sz="1800" dirty="0">
                <a:solidFill>
                  <a:schemeClr val="dk1"/>
                </a:solidFill>
              </a:rPr>
              <a:t>” to “frequency” may improve AUC score.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551909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Wrapper Methods - Sequential Backward Selection (SBS):</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Starts </a:t>
            </a:r>
            <a:r>
              <a:rPr lang="en-US" sz="1800" dirty="0">
                <a:solidFill>
                  <a:schemeClr val="dk1"/>
                </a:solidFill>
              </a:rPr>
              <a:t>with all features. </a:t>
            </a:r>
          </a:p>
          <a:p>
            <a:pPr marL="742950" lvl="0" indent="-227013">
              <a:spcBef>
                <a:spcPts val="300"/>
              </a:spcBef>
              <a:spcAft>
                <a:spcPts val="300"/>
              </a:spcAft>
              <a:buClr>
                <a:schemeClr val="dk1"/>
              </a:buClr>
              <a:buSzPct val="100000"/>
              <a:buFont typeface="Arial"/>
              <a:buChar char="●"/>
            </a:pPr>
            <a:r>
              <a:rPr lang="en-US" sz="1800" dirty="0">
                <a:solidFill>
                  <a:schemeClr val="dk1"/>
                </a:solidFill>
              </a:rPr>
              <a:t>Removes one feature at a time that least affects performance. </a:t>
            </a:r>
          </a:p>
          <a:p>
            <a:pPr marL="742950" lvl="0" indent="-227013">
              <a:spcBef>
                <a:spcPts val="300"/>
              </a:spcBef>
              <a:spcAft>
                <a:spcPts val="300"/>
              </a:spcAft>
              <a:buClr>
                <a:schemeClr val="dk1"/>
              </a:buClr>
              <a:buSzPct val="100000"/>
              <a:buFont typeface="Arial"/>
              <a:buChar char="●"/>
            </a:pPr>
            <a:r>
              <a:rPr lang="en-US" sz="1800" dirty="0">
                <a:solidFill>
                  <a:schemeClr val="dk1"/>
                </a:solidFill>
              </a:rPr>
              <a:t>Continues until optimal feature subset is reached. </a:t>
            </a:r>
          </a:p>
          <a:p>
            <a:pPr marL="742950" lvl="0" indent="-227013">
              <a:spcBef>
                <a:spcPts val="300"/>
              </a:spcBef>
              <a:spcAft>
                <a:spcPts val="300"/>
              </a:spcAft>
              <a:buClr>
                <a:schemeClr val="dk1"/>
              </a:buClr>
              <a:buSzPct val="100000"/>
              <a:buFont typeface="Arial"/>
              <a:buChar char="●"/>
            </a:pPr>
            <a:r>
              <a:rPr lang="en-US" sz="1800" dirty="0">
                <a:solidFill>
                  <a:schemeClr val="dk1"/>
                </a:solidFill>
              </a:rPr>
              <a:t>Use Case: When computational cost of many features is high and model interpretation is a priority.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966821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Embedded Methods:</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Perform </a:t>
            </a:r>
            <a:r>
              <a:rPr lang="en-US" sz="1800" dirty="0">
                <a:solidFill>
                  <a:schemeClr val="dk1"/>
                </a:solidFill>
              </a:rPr>
              <a:t>feature selection during the model training process. </a:t>
            </a:r>
          </a:p>
          <a:p>
            <a:pPr marL="742950" lvl="0" indent="-227013">
              <a:spcBef>
                <a:spcPts val="300"/>
              </a:spcBef>
              <a:spcAft>
                <a:spcPts val="300"/>
              </a:spcAft>
              <a:buClr>
                <a:schemeClr val="dk1"/>
              </a:buClr>
              <a:buSzPct val="100000"/>
              <a:buFont typeface="Arial"/>
              <a:buChar char="●"/>
            </a:pPr>
            <a:r>
              <a:rPr lang="en-US" sz="1800" dirty="0">
                <a:solidFill>
                  <a:schemeClr val="dk1"/>
                </a:solidFill>
              </a:rPr>
              <a:t>Combine advantages of both filter and wrapper methods. </a:t>
            </a:r>
          </a:p>
          <a:p>
            <a:pPr marL="515937" lvl="0">
              <a:spcBef>
                <a:spcPts val="300"/>
              </a:spcBef>
              <a:spcAft>
                <a:spcPts val="300"/>
              </a:spcAft>
              <a:buClr>
                <a:schemeClr val="dk1"/>
              </a:buClr>
              <a:buSzPct val="100000"/>
            </a:pPr>
            <a:endParaRPr lang="en-US" sz="1800" dirty="0">
              <a:solidFill>
                <a:schemeClr val="dk1"/>
              </a:solidFil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676725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Embedded Methods - LASSO (L1 Regularization):</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Applies </a:t>
            </a:r>
            <a:r>
              <a:rPr lang="en-US" sz="1800" dirty="0">
                <a:solidFill>
                  <a:schemeClr val="dk1"/>
                </a:solidFill>
              </a:rPr>
              <a:t>L1 regularization that </a:t>
            </a:r>
            <a:r>
              <a:rPr lang="en-US" sz="1800" dirty="0" err="1">
                <a:solidFill>
                  <a:schemeClr val="dk1"/>
                </a:solidFill>
              </a:rPr>
              <a:t>penalises</a:t>
            </a:r>
            <a:r>
              <a:rPr lang="en-US" sz="1800" dirty="0">
                <a:solidFill>
                  <a:schemeClr val="dk1"/>
                </a:solidFill>
              </a:rPr>
              <a:t> absolute size of coefficients. </a:t>
            </a:r>
          </a:p>
          <a:p>
            <a:pPr marL="742950" lvl="0" indent="-227013">
              <a:spcBef>
                <a:spcPts val="300"/>
              </a:spcBef>
              <a:spcAft>
                <a:spcPts val="300"/>
              </a:spcAft>
              <a:buClr>
                <a:schemeClr val="dk1"/>
              </a:buClr>
              <a:buSzPct val="100000"/>
              <a:buFont typeface="Arial"/>
              <a:buChar char="●"/>
            </a:pPr>
            <a:r>
              <a:rPr lang="en-US" sz="1800" dirty="0">
                <a:solidFill>
                  <a:schemeClr val="dk1"/>
                </a:solidFill>
              </a:rPr>
              <a:t>Shrinks less relevant coefficients to zero, effectively removing features.</a:t>
            </a:r>
          </a:p>
          <a:p>
            <a:pPr marL="742950" lvl="0" indent="-227013">
              <a:spcBef>
                <a:spcPts val="300"/>
              </a:spcBef>
              <a:spcAft>
                <a:spcPts val="300"/>
              </a:spcAft>
              <a:buClr>
                <a:schemeClr val="dk1"/>
              </a:buClr>
              <a:buSzPct val="100000"/>
              <a:buFont typeface="Arial"/>
              <a:buChar char="●"/>
            </a:pPr>
            <a:r>
              <a:rPr lang="en-US" sz="1800" dirty="0">
                <a:solidFill>
                  <a:schemeClr val="dk1"/>
                </a:solidFill>
              </a:rPr>
              <a:t>Highly interpretable; often used in linear regression tasks. </a:t>
            </a:r>
          </a:p>
          <a:p>
            <a:pPr marL="742950" lvl="0" indent="-227013">
              <a:spcBef>
                <a:spcPts val="300"/>
              </a:spcBef>
              <a:spcAft>
                <a:spcPts val="300"/>
              </a:spcAft>
              <a:buClr>
                <a:schemeClr val="dk1"/>
              </a:buClr>
              <a:buSzPct val="100000"/>
              <a:buFont typeface="Arial"/>
              <a:buChar char="●"/>
            </a:pPr>
            <a:r>
              <a:rPr lang="en-US" sz="1800" dirty="0">
                <a:solidFill>
                  <a:schemeClr val="dk1"/>
                </a:solidFill>
              </a:rPr>
              <a:t>Example: LASSO can identify which marketing channels contribute most to conversions. </a:t>
            </a:r>
          </a:p>
          <a:p>
            <a:pPr marL="515937" lvl="0">
              <a:spcBef>
                <a:spcPts val="300"/>
              </a:spcBef>
              <a:spcAft>
                <a:spcPts val="300"/>
              </a:spcAft>
              <a:buClr>
                <a:schemeClr val="dk1"/>
              </a:buClr>
              <a:buSzPct val="100000"/>
            </a:pPr>
            <a:endParaRPr lang="en-US" sz="1800" dirty="0">
              <a:solidFill>
                <a:schemeClr val="dk1"/>
              </a:solidFil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66924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Embedded Methods - Decision Tree-Based Feature Importance:</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Tree </a:t>
            </a:r>
            <a:r>
              <a:rPr lang="en-US" sz="1800" dirty="0">
                <a:solidFill>
                  <a:schemeClr val="dk1"/>
                </a:solidFill>
              </a:rPr>
              <a:t>models (Random Forest, </a:t>
            </a:r>
            <a:r>
              <a:rPr lang="en-US" sz="1800" dirty="0" err="1">
                <a:solidFill>
                  <a:schemeClr val="dk1"/>
                </a:solidFill>
              </a:rPr>
              <a:t>XGBoost</a:t>
            </a:r>
            <a:r>
              <a:rPr lang="en-US" sz="1800" dirty="0">
                <a:solidFill>
                  <a:schemeClr val="dk1"/>
                </a:solidFill>
              </a:rPr>
              <a:t>) inherently calculate feature importance. </a:t>
            </a:r>
          </a:p>
          <a:p>
            <a:pPr marL="742950" lvl="0" indent="-227013">
              <a:spcBef>
                <a:spcPts val="300"/>
              </a:spcBef>
              <a:spcAft>
                <a:spcPts val="300"/>
              </a:spcAft>
              <a:buClr>
                <a:schemeClr val="dk1"/>
              </a:buClr>
              <a:buSzPct val="100000"/>
              <a:buFont typeface="Arial"/>
              <a:buChar char="●"/>
            </a:pPr>
            <a:r>
              <a:rPr lang="en-US" sz="1800" dirty="0">
                <a:solidFill>
                  <a:schemeClr val="dk1"/>
                </a:solidFill>
              </a:rPr>
              <a:t>Based on </a:t>
            </a:r>
            <a:r>
              <a:rPr lang="en-US" sz="1800" dirty="0" err="1">
                <a:solidFill>
                  <a:schemeClr val="dk1"/>
                </a:solidFill>
              </a:rPr>
              <a:t>Gini</a:t>
            </a:r>
            <a:r>
              <a:rPr lang="en-US" sz="1800" dirty="0">
                <a:solidFill>
                  <a:schemeClr val="dk1"/>
                </a:solidFill>
              </a:rPr>
              <a:t> gain, entropy reduction, or information gain. </a:t>
            </a:r>
          </a:p>
          <a:p>
            <a:pPr marL="742950" lvl="0" indent="-227013">
              <a:spcBef>
                <a:spcPts val="300"/>
              </a:spcBef>
              <a:spcAft>
                <a:spcPts val="300"/>
              </a:spcAft>
              <a:buClr>
                <a:schemeClr val="dk1"/>
              </a:buClr>
              <a:buSzPct val="100000"/>
              <a:buFont typeface="Arial"/>
              <a:buChar char="●"/>
            </a:pPr>
            <a:r>
              <a:rPr lang="en-US" sz="1800" dirty="0">
                <a:solidFill>
                  <a:schemeClr val="dk1"/>
                </a:solidFill>
              </a:rPr>
              <a:t>Useful in tabular data with mixed feature types. </a:t>
            </a:r>
          </a:p>
          <a:p>
            <a:pPr marL="742950" lvl="0" indent="-227013">
              <a:spcBef>
                <a:spcPts val="300"/>
              </a:spcBef>
              <a:spcAft>
                <a:spcPts val="300"/>
              </a:spcAft>
              <a:buClr>
                <a:schemeClr val="dk1"/>
              </a:buClr>
              <a:buSzPct val="100000"/>
              <a:buFont typeface="Arial"/>
              <a:buChar char="●"/>
            </a:pPr>
            <a:r>
              <a:rPr lang="en-US" sz="1800" dirty="0">
                <a:solidFill>
                  <a:schemeClr val="dk1"/>
                </a:solidFill>
              </a:rPr>
              <a:t>Example: Random Forest may reveal “credit </a:t>
            </a:r>
            <a:r>
              <a:rPr lang="en-US" sz="1800" dirty="0" err="1">
                <a:solidFill>
                  <a:schemeClr val="dk1"/>
                </a:solidFill>
              </a:rPr>
              <a:t>utilisation</a:t>
            </a:r>
            <a:r>
              <a:rPr lang="en-US" sz="1800" dirty="0">
                <a:solidFill>
                  <a:schemeClr val="dk1"/>
                </a:solidFill>
              </a:rPr>
              <a:t>” is most important in predicting credit default. </a:t>
            </a:r>
          </a:p>
          <a:p>
            <a:pPr marL="515937" lvl="0">
              <a:spcBef>
                <a:spcPts val="300"/>
              </a:spcBef>
              <a:spcAft>
                <a:spcPts val="300"/>
              </a:spcAft>
              <a:buClr>
                <a:schemeClr val="dk1"/>
              </a:buClr>
              <a:buSzPct val="100000"/>
            </a:pPr>
            <a:endParaRPr lang="en-US" sz="1800" dirty="0">
              <a:solidFill>
                <a:schemeClr val="dk1"/>
              </a:solidFil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156633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rial Narrow"/>
                <a:ea typeface="Arial Narrow"/>
                <a:cs typeface="Arial Narrow"/>
                <a:sym typeface="Arial Narrow"/>
              </a:rPr>
              <a:t>Feature </a:t>
            </a:r>
            <a:r>
              <a:rPr lang="en-US" sz="4400" b="1" dirty="0">
                <a:solidFill>
                  <a:schemeClr val="dk1"/>
                </a:solidFill>
                <a:latin typeface="Arial Narrow"/>
                <a:ea typeface="Arial Narrow"/>
                <a:cs typeface="Arial Narrow"/>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Note on Ridge (L2 Regularization):</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Unlike </a:t>
            </a:r>
            <a:r>
              <a:rPr lang="en-US" sz="1800" dirty="0">
                <a:solidFill>
                  <a:schemeClr val="dk1"/>
                </a:solidFill>
              </a:rPr>
              <a:t>LASSO, Ridge doesn’t shrink coefficients to zero. </a:t>
            </a:r>
          </a:p>
          <a:p>
            <a:pPr marL="742950" lvl="0" indent="-227013">
              <a:spcBef>
                <a:spcPts val="300"/>
              </a:spcBef>
              <a:spcAft>
                <a:spcPts val="300"/>
              </a:spcAft>
              <a:buClr>
                <a:schemeClr val="dk1"/>
              </a:buClr>
              <a:buSzPct val="100000"/>
              <a:buFont typeface="Arial"/>
              <a:buChar char="●"/>
            </a:pPr>
            <a:r>
              <a:rPr lang="en-US" sz="1800" dirty="0">
                <a:solidFill>
                  <a:schemeClr val="dk1"/>
                </a:solidFill>
              </a:rPr>
              <a:t>Not used for actual feature selection. </a:t>
            </a:r>
          </a:p>
          <a:p>
            <a:pPr marL="742950" lvl="0" indent="-227013">
              <a:spcBef>
                <a:spcPts val="300"/>
              </a:spcBef>
              <a:spcAft>
                <a:spcPts val="300"/>
              </a:spcAft>
              <a:buClr>
                <a:schemeClr val="dk1"/>
              </a:buClr>
              <a:buSzPct val="100000"/>
              <a:buFont typeface="Arial"/>
              <a:buChar char="●"/>
            </a:pPr>
            <a:r>
              <a:rPr lang="en-US" sz="1800" dirty="0">
                <a:solidFill>
                  <a:schemeClr val="dk1"/>
                </a:solidFill>
              </a:rPr>
              <a:t>Can help </a:t>
            </a:r>
            <a:r>
              <a:rPr lang="en-US" sz="1800" dirty="0" err="1">
                <a:solidFill>
                  <a:schemeClr val="dk1"/>
                </a:solidFill>
              </a:rPr>
              <a:t>stabilise</a:t>
            </a:r>
            <a:r>
              <a:rPr lang="en-US" sz="1800" dirty="0">
                <a:solidFill>
                  <a:schemeClr val="dk1"/>
                </a:solidFill>
              </a:rPr>
              <a:t> </a:t>
            </a:r>
            <a:r>
              <a:rPr lang="en-US" sz="1800" dirty="0" err="1">
                <a:solidFill>
                  <a:schemeClr val="dk1"/>
                </a:solidFill>
              </a:rPr>
              <a:t>multicollinearity</a:t>
            </a:r>
            <a:r>
              <a:rPr lang="en-US" sz="1800" dirty="0" smtClean="0">
                <a:solidFill>
                  <a:schemeClr val="dk1"/>
                </a:solidFill>
              </a:rPr>
              <a:t>.</a:t>
            </a:r>
            <a:endParaRPr lang="en-US" sz="1800" dirty="0">
              <a:solidFill>
                <a:schemeClr val="dk1"/>
              </a:solidFil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148801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dirty="0">
                <a:solidFill>
                  <a:schemeClr val="dk1"/>
                </a:solidFill>
                <a:latin typeface="Arial Narrow"/>
                <a:ea typeface="Arial Narrow"/>
                <a:cs typeface="Arial Narrow"/>
                <a:sym typeface="Arial Narrow"/>
              </a:rPr>
              <a:t>Evaluation of Feature Selection Methods</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rPr>
              <a:t>Importance of Validation:</a:t>
            </a:r>
          </a:p>
          <a:p>
            <a:pPr marL="742950" lvl="0" indent="-227013">
              <a:spcBef>
                <a:spcPts val="300"/>
              </a:spcBef>
              <a:spcAft>
                <a:spcPts val="300"/>
              </a:spcAft>
              <a:buClr>
                <a:schemeClr val="dk1"/>
              </a:buClr>
              <a:buSzPct val="100000"/>
              <a:buFont typeface="Arial"/>
              <a:buChar char="●"/>
            </a:pPr>
            <a:r>
              <a:rPr lang="en-US" sz="1800" dirty="0" smtClean="0">
                <a:solidFill>
                  <a:schemeClr val="dk1"/>
                </a:solidFill>
              </a:rPr>
              <a:t>Crucial </a:t>
            </a:r>
            <a:r>
              <a:rPr lang="en-US" sz="1800" dirty="0">
                <a:solidFill>
                  <a:schemeClr val="dk1"/>
                </a:solidFill>
              </a:rPr>
              <a:t>to validate the impact on downstream models after applying feature selection.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7206793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344d97f5810_0_104"/>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dirty="0">
                <a:solidFill>
                  <a:schemeClr val="dk1"/>
                </a:solidFill>
                <a:latin typeface="Arial Narrow"/>
                <a:ea typeface="Arial Narrow"/>
                <a:cs typeface="Arial Narrow"/>
                <a:sym typeface="Arial Narrow"/>
              </a:rPr>
              <a:t>Evaluation of Feature Selection Methods</a:t>
            </a: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361" name="Google Shape;361;g344d97f5810_0_104"/>
          <p:cNvSpPr txBox="1"/>
          <p:nvPr/>
        </p:nvSpPr>
        <p:spPr>
          <a:xfrm>
            <a:off x="533400" y="1825625"/>
            <a:ext cx="11323200" cy="4351200"/>
          </a:xfrm>
          <a:prstGeom prst="rect">
            <a:avLst/>
          </a:prstGeom>
          <a:noFill/>
          <a:ln>
            <a:noFill/>
          </a:ln>
        </p:spPr>
        <p:txBody>
          <a:bodyPr spcFirstLastPara="1" wrap="square" lIns="91425" tIns="45700" rIns="91425" bIns="45700" anchor="t" anchorCtr="0">
            <a:noAutofit/>
          </a:bodyPr>
          <a:lstStyle/>
          <a:p>
            <a:pPr lvl="0">
              <a:lnSpc>
                <a:spcPct val="70000"/>
              </a:lnSpc>
              <a:spcBef>
                <a:spcPts val="1000"/>
              </a:spcBef>
              <a:buClr>
                <a:schemeClr val="dk1"/>
              </a:buClr>
              <a:buSzPts val="1860"/>
            </a:pPr>
            <a:r>
              <a:rPr lang="en-US" sz="2000" dirty="0">
                <a:solidFill>
                  <a:schemeClr val="dk1"/>
                </a:solidFill>
              </a:rPr>
              <a:t>Common Evaluation </a:t>
            </a:r>
            <a:r>
              <a:rPr lang="en-US" sz="2000" dirty="0" smtClean="0">
                <a:solidFill>
                  <a:schemeClr val="dk1"/>
                </a:solidFill>
              </a:rPr>
              <a:t>Strategies</a:t>
            </a:r>
            <a:endParaRPr sz="2000" b="0" i="0" u="none" strike="noStrike" cap="none" dirty="0">
              <a:solidFill>
                <a:schemeClr val="dk1"/>
              </a:solidFill>
              <a:sym typeface="Arial"/>
            </a:endParaRPr>
          </a:p>
          <a:p>
            <a:pPr marL="457200" lvl="0" indent="-381000">
              <a:lnSpc>
                <a:spcPct val="70000"/>
              </a:lnSpc>
              <a:spcBef>
                <a:spcPts val="1000"/>
              </a:spcBef>
              <a:buClr>
                <a:schemeClr val="dk1"/>
              </a:buClr>
              <a:buSzPct val="100000"/>
              <a:buFont typeface="Arial"/>
              <a:buChar char="●"/>
            </a:pPr>
            <a:r>
              <a:rPr lang="en-US" sz="1800" dirty="0">
                <a:solidFill>
                  <a:schemeClr val="dk1"/>
                </a:solidFill>
              </a:rPr>
              <a:t>Cross-Validation Score: Measures generalization over multiple data splits (robust </a:t>
            </a:r>
          </a:p>
          <a:p>
            <a:pPr marL="457200" lvl="0" indent="-381000">
              <a:lnSpc>
                <a:spcPct val="70000"/>
              </a:lnSpc>
              <a:spcBef>
                <a:spcPts val="1000"/>
              </a:spcBef>
              <a:buClr>
                <a:schemeClr val="dk1"/>
              </a:buClr>
              <a:buSzPct val="100000"/>
              <a:buFont typeface="Arial"/>
              <a:buChar char="●"/>
            </a:pPr>
            <a:r>
              <a:rPr lang="en-US" sz="1800" dirty="0">
                <a:solidFill>
                  <a:schemeClr val="dk1"/>
                </a:solidFill>
              </a:rPr>
              <a:t>to </a:t>
            </a:r>
            <a:r>
              <a:rPr lang="en-US" sz="1800" dirty="0" err="1">
                <a:solidFill>
                  <a:schemeClr val="dk1"/>
                </a:solidFill>
              </a:rPr>
              <a:t>overfitting</a:t>
            </a:r>
            <a:r>
              <a:rPr lang="en-US" sz="1800" dirty="0">
                <a:solidFill>
                  <a:schemeClr val="dk1"/>
                </a:solidFill>
              </a:rPr>
              <a:t>). </a:t>
            </a:r>
          </a:p>
          <a:p>
            <a:pPr marL="457200" lvl="0" indent="-381000">
              <a:lnSpc>
                <a:spcPct val="70000"/>
              </a:lnSpc>
              <a:spcBef>
                <a:spcPts val="1000"/>
              </a:spcBef>
              <a:buClr>
                <a:schemeClr val="dk1"/>
              </a:buClr>
              <a:buSzPct val="100000"/>
              <a:buFont typeface="Arial"/>
              <a:buChar char="●"/>
            </a:pPr>
            <a:r>
              <a:rPr lang="en-US" sz="1800" dirty="0">
                <a:solidFill>
                  <a:schemeClr val="dk1"/>
                </a:solidFill>
              </a:rPr>
              <a:t>Model Performance: Check change in accuracy, precision, recall, F1, AUC before and after FS.</a:t>
            </a:r>
          </a:p>
          <a:p>
            <a:pPr marL="457200" lvl="0" indent="-381000">
              <a:lnSpc>
                <a:spcPct val="70000"/>
              </a:lnSpc>
              <a:spcBef>
                <a:spcPts val="1000"/>
              </a:spcBef>
              <a:buClr>
                <a:schemeClr val="dk1"/>
              </a:buClr>
              <a:buSzPct val="100000"/>
              <a:buFont typeface="Arial"/>
              <a:buChar char="●"/>
            </a:pPr>
            <a:r>
              <a:rPr lang="en-US" sz="1800" dirty="0">
                <a:solidFill>
                  <a:schemeClr val="dk1"/>
                </a:solidFill>
              </a:rPr>
              <a:t>Stability Index: Evaluate consistency of selected features across different folds/subsamples</a:t>
            </a:r>
          </a:p>
          <a:p>
            <a:pPr marL="457200" lvl="0" indent="-381000">
              <a:lnSpc>
                <a:spcPct val="70000"/>
              </a:lnSpc>
              <a:spcBef>
                <a:spcPts val="1000"/>
              </a:spcBef>
              <a:buClr>
                <a:schemeClr val="dk1"/>
              </a:buClr>
              <a:buSzPct val="100000"/>
              <a:buFont typeface="Arial"/>
              <a:buChar char="●"/>
            </a:pPr>
            <a:r>
              <a:rPr lang="en-US" sz="1800" dirty="0">
                <a:solidFill>
                  <a:schemeClr val="dk1"/>
                </a:solidFill>
              </a:rPr>
              <a:t>Domain Relevance: Ensure selected features make sense contextually, even if statistically weak.</a:t>
            </a:r>
          </a:p>
          <a:p>
            <a:pPr marL="457200" lvl="0" indent="-381000">
              <a:lnSpc>
                <a:spcPct val="70000"/>
              </a:lnSpc>
              <a:spcBef>
                <a:spcPts val="1000"/>
              </a:spcBef>
              <a:buClr>
                <a:schemeClr val="dk1"/>
              </a:buClr>
              <a:buSzPct val="100000"/>
              <a:buFont typeface="Arial"/>
              <a:buChar char="●"/>
            </a:pPr>
            <a:r>
              <a:rPr lang="en-US" sz="1800" dirty="0">
                <a:solidFill>
                  <a:schemeClr val="dk1"/>
                </a:solidFill>
              </a:rPr>
              <a:t>Execution Time: Especially important for wrapper methods and large feature spaces</a:t>
            </a:r>
            <a:r>
              <a:rPr lang="en-US" sz="1800" dirty="0" smtClean="0">
                <a:solidFill>
                  <a:schemeClr val="dk1"/>
                </a:solidFill>
              </a:rPr>
              <a:t>.</a:t>
            </a:r>
            <a:endParaRPr sz="2400" b="0" i="0" u="none" strike="noStrike" cap="none" dirty="0">
              <a:solidFill>
                <a:schemeClr val="dk1"/>
              </a:solidFill>
              <a:latin typeface="Arial"/>
              <a:ea typeface="Arial"/>
              <a:cs typeface="Arial"/>
              <a:sym typeface="Arial"/>
            </a:endParaRPr>
          </a:p>
          <a:p>
            <a:pPr marL="0" marR="0" lvl="0" indent="0" algn="l" rtl="0">
              <a:lnSpc>
                <a:spcPct val="70000"/>
              </a:lnSpc>
              <a:spcBef>
                <a:spcPts val="1000"/>
              </a:spcBef>
              <a:spcAft>
                <a:spcPts val="0"/>
              </a:spcAft>
              <a:buClr>
                <a:schemeClr val="dk1"/>
              </a:buClr>
              <a:buSzPts val="1860"/>
              <a:buFont typeface="Arial"/>
              <a:buNone/>
            </a:pPr>
            <a:r>
              <a:rPr lang="en-US" sz="2400" b="0" i="0" u="none" strike="noStrike" cap="none" dirty="0">
                <a:solidFill>
                  <a:schemeClr val="dk1"/>
                </a:solidFill>
                <a:latin typeface="Arial"/>
                <a:ea typeface="Arial"/>
                <a:cs typeface="Arial"/>
                <a:sym typeface="Arial"/>
              </a:rPr>
              <a:t> </a:t>
            </a:r>
            <a:endParaRPr sz="2400" b="0" i="0" u="none" strike="noStrike" cap="none" dirty="0">
              <a:solidFill>
                <a:schemeClr val="dk1"/>
              </a:solidFill>
              <a:latin typeface="Arial"/>
              <a:ea typeface="Arial"/>
              <a:cs typeface="Arial"/>
              <a:sym typeface="Arial"/>
            </a:endParaRPr>
          </a:p>
        </p:txBody>
      </p:sp>
      <p:pic>
        <p:nvPicPr>
          <p:cNvPr id="362" name="Google Shape;362;g344d97f5810_0_104"/>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363" name="Google Shape;363;g344d97f5810_0_104"/>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364" name="Google Shape;364;g344d97f5810_0_104"/>
          <p:cNvPicPr preferRelativeResize="0"/>
          <p:nvPr/>
        </p:nvPicPr>
        <p:blipFill rotWithShape="1">
          <a:blip r:embed="rId5">
            <a:alphaModFix/>
          </a:blip>
          <a:srcRect/>
          <a:stretch/>
        </p:blipFill>
        <p:spPr>
          <a:xfrm>
            <a:off x="-2" y="1295790"/>
            <a:ext cx="4465321" cy="103523"/>
          </a:xfrm>
          <a:prstGeom prst="rect">
            <a:avLst/>
          </a:prstGeom>
          <a:noFill/>
          <a:ln>
            <a:noFill/>
          </a:ln>
        </p:spPr>
      </p:pic>
    </p:spTree>
    <p:extLst>
      <p:ext uri="{BB962C8B-B14F-4D97-AF65-F5344CB8AC3E}">
        <p14:creationId xmlns:p14="http://schemas.microsoft.com/office/powerpoint/2010/main" val="1621641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344d97f5810_0_104"/>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dirty="0">
                <a:solidFill>
                  <a:schemeClr val="dk1"/>
                </a:solidFill>
                <a:latin typeface="Arial Narrow"/>
                <a:ea typeface="Arial Narrow"/>
                <a:cs typeface="Arial Narrow"/>
                <a:sym typeface="Arial Narrow"/>
              </a:rPr>
              <a:t>Evaluation of Feature Selection Methods</a:t>
            </a: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361" name="Google Shape;361;g344d97f5810_0_104"/>
          <p:cNvSpPr txBox="1"/>
          <p:nvPr/>
        </p:nvSpPr>
        <p:spPr>
          <a:xfrm>
            <a:off x="533400" y="1825625"/>
            <a:ext cx="11323200" cy="4351200"/>
          </a:xfrm>
          <a:prstGeom prst="rect">
            <a:avLst/>
          </a:prstGeom>
          <a:noFill/>
          <a:ln>
            <a:noFill/>
          </a:ln>
        </p:spPr>
        <p:txBody>
          <a:bodyPr spcFirstLastPara="1" wrap="square" lIns="91425" tIns="45700" rIns="91425" bIns="45700" anchor="t" anchorCtr="0">
            <a:noAutofit/>
          </a:bodyPr>
          <a:lstStyle/>
          <a:p>
            <a:pPr lvl="0">
              <a:lnSpc>
                <a:spcPct val="70000"/>
              </a:lnSpc>
              <a:spcBef>
                <a:spcPts val="1000"/>
              </a:spcBef>
              <a:buClr>
                <a:schemeClr val="dk1"/>
              </a:buClr>
              <a:buSzPts val="1860"/>
            </a:pPr>
            <a:r>
              <a:rPr lang="en-US" sz="2000" dirty="0">
                <a:solidFill>
                  <a:schemeClr val="dk1"/>
                </a:solidFill>
              </a:rPr>
              <a:t>Practical Considerations - Performance </a:t>
            </a:r>
            <a:r>
              <a:rPr lang="en-US" sz="2000" dirty="0" smtClean="0">
                <a:solidFill>
                  <a:schemeClr val="dk1"/>
                </a:solidFill>
              </a:rPr>
              <a:t>Degradation</a:t>
            </a:r>
            <a:endParaRPr lang="en-US" sz="2000" dirty="0">
              <a:solidFill>
                <a:schemeClr val="dk1"/>
              </a:solidFill>
            </a:endParaRPr>
          </a:p>
          <a:p>
            <a:pPr lvl="0">
              <a:lnSpc>
                <a:spcPct val="70000"/>
              </a:lnSpc>
              <a:spcBef>
                <a:spcPts val="1000"/>
              </a:spcBef>
              <a:buClr>
                <a:schemeClr val="dk1"/>
              </a:buClr>
              <a:buSzPts val="1860"/>
            </a:pPr>
            <a:r>
              <a:rPr lang="en-US" sz="2000" dirty="0">
                <a:solidFill>
                  <a:schemeClr val="dk1"/>
                </a:solidFill>
              </a:rPr>
              <a:t>If performance degrades post-selection, it may indicate:</a:t>
            </a:r>
          </a:p>
          <a:p>
            <a:pPr marL="457200" lvl="0" indent="-381000">
              <a:lnSpc>
                <a:spcPct val="70000"/>
              </a:lnSpc>
              <a:spcBef>
                <a:spcPts val="1000"/>
              </a:spcBef>
              <a:buClr>
                <a:schemeClr val="dk1"/>
              </a:buClr>
              <a:buSzPct val="100000"/>
              <a:buFont typeface="Arial"/>
              <a:buChar char="●"/>
            </a:pPr>
            <a:r>
              <a:rPr lang="en-US" sz="1800" dirty="0" err="1" smtClean="0">
                <a:solidFill>
                  <a:schemeClr val="dk1"/>
                </a:solidFill>
              </a:rPr>
              <a:t>Overfitting</a:t>
            </a:r>
            <a:r>
              <a:rPr lang="en-US" sz="1800" dirty="0" smtClean="0">
                <a:solidFill>
                  <a:schemeClr val="dk1"/>
                </a:solidFill>
              </a:rPr>
              <a:t> </a:t>
            </a:r>
            <a:r>
              <a:rPr lang="en-US" sz="1800" dirty="0">
                <a:solidFill>
                  <a:schemeClr val="dk1"/>
                </a:solidFill>
              </a:rPr>
              <a:t>during selection.</a:t>
            </a:r>
          </a:p>
          <a:p>
            <a:pPr marL="457200" lvl="0" indent="-381000">
              <a:lnSpc>
                <a:spcPct val="70000"/>
              </a:lnSpc>
              <a:spcBef>
                <a:spcPts val="1000"/>
              </a:spcBef>
              <a:buClr>
                <a:schemeClr val="dk1"/>
              </a:buClr>
              <a:buSzPct val="100000"/>
              <a:buFont typeface="Arial"/>
              <a:buChar char="●"/>
            </a:pPr>
            <a:r>
              <a:rPr lang="en-US" sz="1800" dirty="0">
                <a:solidFill>
                  <a:schemeClr val="dk1"/>
                </a:solidFill>
              </a:rPr>
              <a:t>Important interaction terms were removed.</a:t>
            </a:r>
          </a:p>
          <a:p>
            <a:pPr marL="457200" lvl="0" indent="-381000">
              <a:lnSpc>
                <a:spcPct val="70000"/>
              </a:lnSpc>
              <a:spcBef>
                <a:spcPts val="1000"/>
              </a:spcBef>
              <a:buClr>
                <a:schemeClr val="dk1"/>
              </a:buClr>
              <a:buSzPct val="100000"/>
              <a:buFont typeface="Arial"/>
              <a:buChar char="●"/>
            </a:pPr>
            <a:r>
              <a:rPr lang="en-US" sz="1800" dirty="0">
                <a:solidFill>
                  <a:schemeClr val="dk1"/>
                </a:solidFill>
              </a:rPr>
              <a:t>Features removed were only useful in combinations, not in isolation.</a:t>
            </a:r>
          </a:p>
        </p:txBody>
      </p:sp>
      <p:pic>
        <p:nvPicPr>
          <p:cNvPr id="362" name="Google Shape;362;g344d97f5810_0_104"/>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363" name="Google Shape;363;g344d97f5810_0_104"/>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364" name="Google Shape;364;g344d97f5810_0_104"/>
          <p:cNvPicPr preferRelativeResize="0"/>
          <p:nvPr/>
        </p:nvPicPr>
        <p:blipFill rotWithShape="1">
          <a:blip r:embed="rId5">
            <a:alphaModFix/>
          </a:blip>
          <a:srcRect/>
          <a:stretch/>
        </p:blipFill>
        <p:spPr>
          <a:xfrm>
            <a:off x="-2" y="1295790"/>
            <a:ext cx="4465321" cy="103523"/>
          </a:xfrm>
          <a:prstGeom prst="rect">
            <a:avLst/>
          </a:prstGeom>
          <a:noFill/>
          <a:ln>
            <a:noFill/>
          </a:ln>
        </p:spPr>
      </p:pic>
    </p:spTree>
    <p:extLst>
      <p:ext uri="{BB962C8B-B14F-4D97-AF65-F5344CB8AC3E}">
        <p14:creationId xmlns:p14="http://schemas.microsoft.com/office/powerpoint/2010/main" val="4150459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344d97f5810_0_104"/>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dirty="0">
                <a:solidFill>
                  <a:schemeClr val="dk1"/>
                </a:solidFill>
                <a:latin typeface="Arial Narrow"/>
                <a:ea typeface="Arial Narrow"/>
                <a:cs typeface="Arial Narrow"/>
                <a:sym typeface="Arial Narrow"/>
              </a:rPr>
              <a:t>Evaluation of Feature Selection Methods</a:t>
            </a: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rial Narrow"/>
              <a:ea typeface="Arial Narrow"/>
              <a:cs typeface="Arial Narrow"/>
              <a:sym typeface="Arial Narrow"/>
            </a:endParaRPr>
          </a:p>
        </p:txBody>
      </p:sp>
      <p:sp>
        <p:nvSpPr>
          <p:cNvPr id="361" name="Google Shape;361;g344d97f5810_0_104"/>
          <p:cNvSpPr txBox="1"/>
          <p:nvPr/>
        </p:nvSpPr>
        <p:spPr>
          <a:xfrm>
            <a:off x="533400" y="1825625"/>
            <a:ext cx="11323200" cy="4351200"/>
          </a:xfrm>
          <a:prstGeom prst="rect">
            <a:avLst/>
          </a:prstGeom>
          <a:noFill/>
          <a:ln>
            <a:noFill/>
          </a:ln>
        </p:spPr>
        <p:txBody>
          <a:bodyPr spcFirstLastPara="1" wrap="square" lIns="91425" tIns="45700" rIns="91425" bIns="45700" anchor="t" anchorCtr="0">
            <a:noAutofit/>
          </a:bodyPr>
          <a:lstStyle/>
          <a:p>
            <a:pPr marL="457200" lvl="0" indent="-381000">
              <a:spcBef>
                <a:spcPts val="300"/>
              </a:spcBef>
              <a:spcAft>
                <a:spcPts val="300"/>
              </a:spcAft>
              <a:buClr>
                <a:schemeClr val="dk1"/>
              </a:buClr>
              <a:buSzPct val="100000"/>
              <a:buFont typeface="Arial"/>
              <a:buChar char="●"/>
            </a:pPr>
            <a:r>
              <a:rPr lang="en-US" sz="1800" dirty="0" smtClean="0">
                <a:solidFill>
                  <a:schemeClr val="dk1"/>
                </a:solidFill>
              </a:rPr>
              <a:t>Feature </a:t>
            </a:r>
            <a:r>
              <a:rPr lang="en-US" sz="1800" dirty="0">
                <a:solidFill>
                  <a:schemeClr val="dk1"/>
                </a:solidFill>
              </a:rPr>
              <a:t>Extraction: Convert raw/unstructured data into usable form (Text, image, audio, sensor, time-series). </a:t>
            </a:r>
          </a:p>
          <a:p>
            <a:pPr marL="457200" lvl="0" indent="-381000">
              <a:spcBef>
                <a:spcPts val="300"/>
              </a:spcBef>
              <a:spcAft>
                <a:spcPts val="300"/>
              </a:spcAft>
              <a:buClr>
                <a:schemeClr val="dk1"/>
              </a:buClr>
              <a:buSzPct val="100000"/>
              <a:buFont typeface="Arial"/>
              <a:buChar char="●"/>
            </a:pPr>
            <a:r>
              <a:rPr lang="en-US" sz="1800" dirty="0">
                <a:solidFill>
                  <a:schemeClr val="dk1"/>
                </a:solidFill>
              </a:rPr>
              <a:t>Feature Construction: Create domain-specific or derived variables (Tabular data, business problems). </a:t>
            </a:r>
          </a:p>
          <a:p>
            <a:pPr marL="457200" lvl="0" indent="-381000">
              <a:spcBef>
                <a:spcPts val="300"/>
              </a:spcBef>
              <a:spcAft>
                <a:spcPts val="300"/>
              </a:spcAft>
              <a:buClr>
                <a:schemeClr val="dk1"/>
              </a:buClr>
              <a:buSzPct val="100000"/>
              <a:buFont typeface="Arial"/>
              <a:buChar char="●"/>
            </a:pPr>
            <a:r>
              <a:rPr lang="en-US" sz="1800" dirty="0">
                <a:solidFill>
                  <a:schemeClr val="dk1"/>
                </a:solidFill>
              </a:rPr>
              <a:t>Filter Methods: Select features using </a:t>
            </a:r>
            <a:r>
              <a:rPr lang="en-US" sz="1800" dirty="0" err="1">
                <a:solidFill>
                  <a:schemeClr val="dk1"/>
                </a:solidFill>
              </a:rPr>
              <a:t>univariate</a:t>
            </a:r>
            <a:r>
              <a:rPr lang="en-US" sz="1800" dirty="0">
                <a:solidFill>
                  <a:schemeClr val="dk1"/>
                </a:solidFill>
              </a:rPr>
              <a:t> statistics (High-dimensional datasets, pre-model analysis). </a:t>
            </a:r>
          </a:p>
          <a:p>
            <a:pPr marL="457200" lvl="0" indent="-381000">
              <a:spcBef>
                <a:spcPts val="300"/>
              </a:spcBef>
              <a:spcAft>
                <a:spcPts val="300"/>
              </a:spcAft>
              <a:buClr>
                <a:schemeClr val="dk1"/>
              </a:buClr>
              <a:buSzPct val="100000"/>
              <a:buFont typeface="Arial"/>
              <a:buChar char="●"/>
            </a:pPr>
            <a:r>
              <a:rPr lang="en-US" sz="1800" dirty="0">
                <a:solidFill>
                  <a:schemeClr val="dk1"/>
                </a:solidFill>
              </a:rPr>
              <a:t>Wrapper Methods: Evaluate feature sets using model performance (Moderate dimensionality, more precision). </a:t>
            </a:r>
          </a:p>
          <a:p>
            <a:pPr marL="457200" lvl="0" indent="-381000">
              <a:spcBef>
                <a:spcPts val="300"/>
              </a:spcBef>
              <a:spcAft>
                <a:spcPts val="300"/>
              </a:spcAft>
              <a:buClr>
                <a:schemeClr val="dk1"/>
              </a:buClr>
              <a:buSzPct val="100000"/>
              <a:buFont typeface="Arial"/>
              <a:buChar char="●"/>
            </a:pPr>
            <a:r>
              <a:rPr lang="en-US" sz="1800" dirty="0">
                <a:solidFill>
                  <a:schemeClr val="dk1"/>
                </a:solidFill>
              </a:rPr>
              <a:t>Embedded Methods: Select features during model training (Tree-based models, LASSO, production pipelines). </a:t>
            </a:r>
          </a:p>
          <a:p>
            <a:pPr marL="457200" lvl="0" indent="-381000">
              <a:spcBef>
                <a:spcPts val="300"/>
              </a:spcBef>
              <a:spcAft>
                <a:spcPts val="300"/>
              </a:spcAft>
              <a:buClr>
                <a:schemeClr val="dk1"/>
              </a:buClr>
              <a:buSzPct val="100000"/>
              <a:buFont typeface="Arial"/>
              <a:buChar char="●"/>
            </a:pPr>
            <a:r>
              <a:rPr lang="en-US" sz="1800" dirty="0">
                <a:solidFill>
                  <a:schemeClr val="dk1"/>
                </a:solidFill>
              </a:rPr>
              <a:t>Evaluation: Assess impact of feature selection (Always after selection, before final model). </a:t>
            </a:r>
            <a:endParaRPr lang="en-US" sz="1800" dirty="0">
              <a:solidFill>
                <a:schemeClr val="dk1"/>
              </a:solidFill>
            </a:endParaRPr>
          </a:p>
        </p:txBody>
      </p:sp>
      <p:pic>
        <p:nvPicPr>
          <p:cNvPr id="362" name="Google Shape;362;g344d97f5810_0_104"/>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363" name="Google Shape;363;g344d97f5810_0_104"/>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364" name="Google Shape;364;g344d97f5810_0_104"/>
          <p:cNvPicPr preferRelativeResize="0"/>
          <p:nvPr/>
        </p:nvPicPr>
        <p:blipFill rotWithShape="1">
          <a:blip r:embed="rId5">
            <a:alphaModFix/>
          </a:blip>
          <a:srcRect/>
          <a:stretch/>
        </p:blipFill>
        <p:spPr>
          <a:xfrm>
            <a:off x="-2" y="1295790"/>
            <a:ext cx="4465321" cy="103523"/>
          </a:xfrm>
          <a:prstGeom prst="rect">
            <a:avLst/>
          </a:prstGeom>
          <a:noFill/>
          <a:ln>
            <a:noFill/>
          </a:ln>
        </p:spPr>
      </p:pic>
    </p:spTree>
    <p:extLst>
      <p:ext uri="{BB962C8B-B14F-4D97-AF65-F5344CB8AC3E}">
        <p14:creationId xmlns:p14="http://schemas.microsoft.com/office/powerpoint/2010/main" val="2219548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
          <p:cNvSpPr/>
          <p:nvPr/>
        </p:nvSpPr>
        <p:spPr>
          <a:xfrm>
            <a:off x="11998" y="3894332"/>
            <a:ext cx="12192000" cy="2855668"/>
          </a:xfrm>
          <a:prstGeom prst="roundRect">
            <a:avLst>
              <a:gd name="adj" fmla="val 16667"/>
            </a:avLst>
          </a:prstGeom>
          <a:solidFill>
            <a:srgbClr val="7E00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The content provided in this digital training programme has been developed by professors / external vendors. All intellectual property rights in the content, including but not limited to video, text, slides, graphics, and audio materials, are owned exclusively by BITS Pilani (“BITS”), unless otherwise expressly stated. This programme may also include licensed or contributed works from third-party experts, faculty, and collaborating institutions, all of whom are duly acknowledged where appropriate.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All product names, logos, brands, and entity names referenced within this content are the property of their respective trademark owners. The inclusion of such names, logos, or brands does not imply any affiliation with, or endorsement by, these entities.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This material is intended solely for personal learning and academic purposes. Except for content that is explicitly confirmed to be in the public domain, no part of this content may be reproduced, copied, modified, distributed, republished, uploaded, posted, publicly displayed, or transmitted in any form or by any means – electronic, mechanical, photocopying, recording, or otherwise – without the prior express written consent of BITS Pilani or the applicable rights holder.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Any unauthorized use, commercial exploitation, resale, or public sharing of this content in any manner constitutes a violation of applicable intellectual property laws. BITS Pilani reserves the right to pursue all appropriate legal remedies, including but not limited to civil action and criminal prosecution under the Copyright Act, 1957, and other relevant statutes in force in India.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By accessing or using this digital training programme, you agree to comply with the terms set forth in this disclaimer.</a:t>
            </a:r>
            <a:endParaRPr sz="1400" b="0" i="0" u="none" strike="noStrike" cap="none">
              <a:solidFill>
                <a:srgbClr val="000000"/>
              </a:solidFill>
              <a:latin typeface="Arial"/>
              <a:ea typeface="Arial"/>
              <a:cs typeface="Arial"/>
              <a:sym typeface="Arial"/>
            </a:endParaRPr>
          </a:p>
        </p:txBody>
      </p:sp>
      <p:pic>
        <p:nvPicPr>
          <p:cNvPr id="397" name="Google Shape;397;p5"/>
          <p:cNvPicPr preferRelativeResize="0"/>
          <p:nvPr/>
        </p:nvPicPr>
        <p:blipFill rotWithShape="1">
          <a:blip r:embed="rId3">
            <a:alphaModFix/>
          </a:blip>
          <a:srcRect/>
          <a:stretch/>
        </p:blipFill>
        <p:spPr>
          <a:xfrm>
            <a:off x="10078720" y="405951"/>
            <a:ext cx="1778000" cy="679450"/>
          </a:xfrm>
          <a:prstGeom prst="rect">
            <a:avLst/>
          </a:prstGeom>
          <a:noFill/>
          <a:ln>
            <a:noFill/>
          </a:ln>
        </p:spPr>
      </p:pic>
      <p:sp>
        <p:nvSpPr>
          <p:cNvPr id="398" name="Google Shape;398;p5"/>
          <p:cNvSpPr txBox="1"/>
          <p:nvPr/>
        </p:nvSpPr>
        <p:spPr>
          <a:xfrm>
            <a:off x="3268980" y="2963668"/>
            <a:ext cx="5654040" cy="930665"/>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7200"/>
              <a:buFont typeface="Play"/>
              <a:buNone/>
            </a:pPr>
            <a:r>
              <a:rPr lang="en-US" sz="7200" b="1" i="0" u="none" strike="noStrike" cap="none">
                <a:solidFill>
                  <a:schemeClr val="dk1"/>
                </a:solidFill>
                <a:latin typeface="Play"/>
                <a:ea typeface="Play"/>
                <a:cs typeface="Play"/>
                <a:sym typeface="Play"/>
              </a:rPr>
              <a:t>Thank You</a:t>
            </a:r>
            <a:endParaRPr sz="7200" b="1" i="0" u="none" strike="noStrike" cap="none">
              <a:solidFill>
                <a:schemeClr val="dk1"/>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3948</Words>
  <Application>Microsoft Office PowerPoint</Application>
  <PresentationFormat>Widescreen</PresentationFormat>
  <Paragraphs>243</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 Narrow</vt:lpstr>
      <vt:lpstr>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Manjeet (GRG-MRM)</dc:creator>
  <cp:lastModifiedBy>user</cp:lastModifiedBy>
  <cp:revision>8</cp:revision>
  <dcterms:created xsi:type="dcterms:W3CDTF">2025-05-30T08:20:10Z</dcterms:created>
  <dcterms:modified xsi:type="dcterms:W3CDTF">2025-09-12T09:38:46Z</dcterms:modified>
</cp:coreProperties>
</file>